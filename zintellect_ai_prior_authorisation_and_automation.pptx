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64" r:id="rId3"/>
    <p:sldId id="265" r:id="rId4"/>
    <p:sldId id="266" r:id="rId5"/>
    <p:sldId id="267" r:id="rId6"/>
    <p:sldId id="271" r:id="rId7"/>
    <p:sldId id="268" r:id="rId8"/>
    <p:sldId id="269" r:id="rId9"/>
    <p:sldId id="27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FBA000-96A8-48E2-A0F1-1D85D96AB81D}" v="81" dt="2026-06-18T10:51:44.41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0" d="100"/>
          <a:sy n="90" d="100"/>
        </p:scale>
        <p:origin x="39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heswaran S" userId="97a9492b636ac222" providerId="LiveId" clId="{82E31F27-50C9-4B15-A0C6-682795869383}"/>
    <pc:docChg chg="undo redo custSel addSld modSld">
      <pc:chgData name="Matheswaran S" userId="97a9492b636ac222" providerId="LiveId" clId="{82E31F27-50C9-4B15-A0C6-682795869383}" dt="2026-06-18T10:57:02.966" v="611" actId="1035"/>
      <pc:docMkLst>
        <pc:docMk/>
      </pc:docMkLst>
      <pc:sldChg chg="modSp mod">
        <pc:chgData name="Matheswaran S" userId="97a9492b636ac222" providerId="LiveId" clId="{82E31F27-50C9-4B15-A0C6-682795869383}" dt="2026-06-18T09:48:21.710" v="68" actId="20577"/>
        <pc:sldMkLst>
          <pc:docMk/>
          <pc:sldMk cId="1732716058" sldId="264"/>
        </pc:sldMkLst>
        <pc:spChg chg="mod">
          <ac:chgData name="Matheswaran S" userId="97a9492b636ac222" providerId="LiveId" clId="{82E31F27-50C9-4B15-A0C6-682795869383}" dt="2026-06-18T09:48:21.710" v="68" actId="20577"/>
          <ac:spMkLst>
            <pc:docMk/>
            <pc:sldMk cId="1732716058" sldId="264"/>
            <ac:spMk id="3" creationId="{E166690A-AE08-D29E-8ADC-15F92778C433}"/>
          </ac:spMkLst>
        </pc:spChg>
      </pc:sldChg>
      <pc:sldChg chg="modSp mod">
        <pc:chgData name="Matheswaran S" userId="97a9492b636ac222" providerId="LiveId" clId="{82E31F27-50C9-4B15-A0C6-682795869383}" dt="2026-06-18T09:50:28.213" v="125"/>
        <pc:sldMkLst>
          <pc:docMk/>
          <pc:sldMk cId="2692841136" sldId="265"/>
        </pc:sldMkLst>
        <pc:spChg chg="mod">
          <ac:chgData name="Matheswaran S" userId="97a9492b636ac222" providerId="LiveId" clId="{82E31F27-50C9-4B15-A0C6-682795869383}" dt="2026-06-18T09:50:28.213" v="125"/>
          <ac:spMkLst>
            <pc:docMk/>
            <pc:sldMk cId="2692841136" sldId="265"/>
            <ac:spMk id="3" creationId="{A5700324-CADA-EF6E-C935-AB0BA766F5AB}"/>
          </ac:spMkLst>
        </pc:spChg>
      </pc:sldChg>
      <pc:sldChg chg="modSp mod">
        <pc:chgData name="Matheswaran S" userId="97a9492b636ac222" providerId="LiveId" clId="{82E31F27-50C9-4B15-A0C6-682795869383}" dt="2026-06-18T10:22:03.169" v="278" actId="1035"/>
        <pc:sldMkLst>
          <pc:docMk/>
          <pc:sldMk cId="4213656903" sldId="266"/>
        </pc:sldMkLst>
        <pc:spChg chg="mod">
          <ac:chgData name="Matheswaran S" userId="97a9492b636ac222" providerId="LiveId" clId="{82E31F27-50C9-4B15-A0C6-682795869383}" dt="2026-06-18T10:21:48.771" v="242" actId="1035"/>
          <ac:spMkLst>
            <pc:docMk/>
            <pc:sldMk cId="4213656903" sldId="266"/>
            <ac:spMk id="2" creationId="{A3EC1B9B-802E-4142-25E4-42D521C47A30}"/>
          </ac:spMkLst>
        </pc:spChg>
        <pc:spChg chg="mod">
          <ac:chgData name="Matheswaran S" userId="97a9492b636ac222" providerId="LiveId" clId="{82E31F27-50C9-4B15-A0C6-682795869383}" dt="2026-06-18T10:22:03.169" v="278" actId="1035"/>
          <ac:spMkLst>
            <pc:docMk/>
            <pc:sldMk cId="4213656903" sldId="266"/>
            <ac:spMk id="3" creationId="{B527B22D-7EB4-9CB0-A5F0-E0C456473448}"/>
          </ac:spMkLst>
        </pc:spChg>
        <pc:picChg chg="mod">
          <ac:chgData name="Matheswaran S" userId="97a9492b636ac222" providerId="LiveId" clId="{82E31F27-50C9-4B15-A0C6-682795869383}" dt="2026-06-18T10:21:53.345" v="260" actId="1035"/>
          <ac:picMkLst>
            <pc:docMk/>
            <pc:sldMk cId="4213656903" sldId="266"/>
            <ac:picMk id="6" creationId="{3E82172D-7ED3-B5C7-B74E-CDA3B260AA0C}"/>
          </ac:picMkLst>
        </pc:picChg>
      </pc:sldChg>
      <pc:sldChg chg="delSp modSp mod">
        <pc:chgData name="Matheswaran S" userId="97a9492b636ac222" providerId="LiveId" clId="{82E31F27-50C9-4B15-A0C6-682795869383}" dt="2026-06-18T10:35:51.463" v="399" actId="20577"/>
        <pc:sldMkLst>
          <pc:docMk/>
          <pc:sldMk cId="3183026093" sldId="267"/>
        </pc:sldMkLst>
        <pc:spChg chg="mod">
          <ac:chgData name="Matheswaran S" userId="97a9492b636ac222" providerId="LiveId" clId="{82E31F27-50C9-4B15-A0C6-682795869383}" dt="2026-06-18T10:35:51.463" v="399" actId="20577"/>
          <ac:spMkLst>
            <pc:docMk/>
            <pc:sldMk cId="3183026093" sldId="267"/>
            <ac:spMk id="3" creationId="{9029118F-F649-3036-152B-61BC140A3A61}"/>
          </ac:spMkLst>
        </pc:spChg>
        <pc:spChg chg="del">
          <ac:chgData name="Matheswaran S" userId="97a9492b636ac222" providerId="LiveId" clId="{82E31F27-50C9-4B15-A0C6-682795869383}" dt="2026-06-18T10:32:24.642" v="364" actId="478"/>
          <ac:spMkLst>
            <pc:docMk/>
            <pc:sldMk cId="3183026093" sldId="267"/>
            <ac:spMk id="15" creationId="{580922E5-BF98-4F3D-FA8C-B1F31C90F624}"/>
          </ac:spMkLst>
        </pc:spChg>
        <pc:picChg chg="del">
          <ac:chgData name="Matheswaran S" userId="97a9492b636ac222" providerId="LiveId" clId="{82E31F27-50C9-4B15-A0C6-682795869383}" dt="2026-06-18T10:32:20.733" v="363" actId="478"/>
          <ac:picMkLst>
            <pc:docMk/>
            <pc:sldMk cId="3183026093" sldId="267"/>
            <ac:picMk id="2" creationId="{61B437F1-A8BC-524E-2E55-EC3BD45ED6CD}"/>
          </ac:picMkLst>
        </pc:picChg>
      </pc:sldChg>
      <pc:sldChg chg="modSp mod">
        <pc:chgData name="Matheswaran S" userId="97a9492b636ac222" providerId="LiveId" clId="{82E31F27-50C9-4B15-A0C6-682795869383}" dt="2026-06-18T10:44:16.745" v="579" actId="20577"/>
        <pc:sldMkLst>
          <pc:docMk/>
          <pc:sldMk cId="3645921803" sldId="268"/>
        </pc:sldMkLst>
        <pc:spChg chg="mod">
          <ac:chgData name="Matheswaran S" userId="97a9492b636ac222" providerId="LiveId" clId="{82E31F27-50C9-4B15-A0C6-682795869383}" dt="2026-06-18T10:44:16.745" v="579" actId="20577"/>
          <ac:spMkLst>
            <pc:docMk/>
            <pc:sldMk cId="3645921803" sldId="268"/>
            <ac:spMk id="3" creationId="{7B0F6993-1F50-5743-BA74-331B925BA574}"/>
          </ac:spMkLst>
        </pc:spChg>
      </pc:sldChg>
      <pc:sldChg chg="addSp delSp modSp mod">
        <pc:chgData name="Matheswaran S" userId="97a9492b636ac222" providerId="LiveId" clId="{82E31F27-50C9-4B15-A0C6-682795869383}" dt="2026-06-18T10:51:44.406" v="597"/>
        <pc:sldMkLst>
          <pc:docMk/>
          <pc:sldMk cId="184258467" sldId="269"/>
        </pc:sldMkLst>
        <pc:spChg chg="mod">
          <ac:chgData name="Matheswaran S" userId="97a9492b636ac222" providerId="LiveId" clId="{82E31F27-50C9-4B15-A0C6-682795869383}" dt="2026-06-18T10:46:18.595" v="585" actId="20577"/>
          <ac:spMkLst>
            <pc:docMk/>
            <pc:sldMk cId="184258467" sldId="269"/>
            <ac:spMk id="3" creationId="{3359A9BC-6B14-04BF-E04C-969CE0706C2E}"/>
          </ac:spMkLst>
        </pc:spChg>
        <pc:picChg chg="add mod modCrop">
          <ac:chgData name="Matheswaran S" userId="97a9492b636ac222" providerId="LiveId" clId="{82E31F27-50C9-4B15-A0C6-682795869383}" dt="2026-06-18T10:51:44.406" v="597"/>
          <ac:picMkLst>
            <pc:docMk/>
            <pc:sldMk cId="184258467" sldId="269"/>
            <ac:picMk id="10" creationId="{971F964A-A98A-C785-0269-65656C44A45F}"/>
          </ac:picMkLst>
        </pc:picChg>
        <pc:picChg chg="del">
          <ac:chgData name="Matheswaran S" userId="97a9492b636ac222" providerId="LiveId" clId="{82E31F27-50C9-4B15-A0C6-682795869383}" dt="2026-06-18T10:49:54.193" v="586" actId="478"/>
          <ac:picMkLst>
            <pc:docMk/>
            <pc:sldMk cId="184258467" sldId="269"/>
            <ac:picMk id="11" creationId="{F3C4183B-9F46-8968-0207-5836020B5D33}"/>
          </ac:picMkLst>
        </pc:picChg>
      </pc:sldChg>
      <pc:sldChg chg="modSp mod">
        <pc:chgData name="Matheswaran S" userId="97a9492b636ac222" providerId="LiveId" clId="{82E31F27-50C9-4B15-A0C6-682795869383}" dt="2026-05-29T13:31:58.989" v="4" actId="20577"/>
        <pc:sldMkLst>
          <pc:docMk/>
          <pc:sldMk cId="3491633561" sldId="270"/>
        </pc:sldMkLst>
        <pc:spChg chg="mod">
          <ac:chgData name="Matheswaran S" userId="97a9492b636ac222" providerId="LiveId" clId="{82E31F27-50C9-4B15-A0C6-682795869383}" dt="2026-05-29T13:31:58.989" v="4" actId="20577"/>
          <ac:spMkLst>
            <pc:docMk/>
            <pc:sldMk cId="3491633561" sldId="270"/>
            <ac:spMk id="6" creationId="{82559136-584E-1838-5457-E15F7D2AA213}"/>
          </ac:spMkLst>
        </pc:spChg>
      </pc:sldChg>
      <pc:sldChg chg="addSp delSp modSp add mod">
        <pc:chgData name="Matheswaran S" userId="97a9492b636ac222" providerId="LiveId" clId="{82E31F27-50C9-4B15-A0C6-682795869383}" dt="2026-06-18T10:57:02.966" v="611" actId="1035"/>
        <pc:sldMkLst>
          <pc:docMk/>
          <pc:sldMk cId="2533515940" sldId="271"/>
        </pc:sldMkLst>
        <pc:spChg chg="del mod">
          <ac:chgData name="Matheswaran S" userId="97a9492b636ac222" providerId="LiveId" clId="{82E31F27-50C9-4B15-A0C6-682795869383}" dt="2026-06-18T10:36:26.211" v="503" actId="478"/>
          <ac:spMkLst>
            <pc:docMk/>
            <pc:sldMk cId="2533515940" sldId="271"/>
            <ac:spMk id="3" creationId="{B9C62EF6-C5C1-C14B-29E2-BAA4C6FC8F8A}"/>
          </ac:spMkLst>
        </pc:spChg>
        <pc:spChg chg="mod">
          <ac:chgData name="Matheswaran S" userId="97a9492b636ac222" providerId="LiveId" clId="{82E31F27-50C9-4B15-A0C6-682795869383}" dt="2026-06-18T10:57:02.966" v="611" actId="1035"/>
          <ac:spMkLst>
            <pc:docMk/>
            <pc:sldMk cId="2533515940" sldId="271"/>
            <ac:spMk id="15" creationId="{B8160E31-A16B-2088-A2FB-329B02639E8E}"/>
          </ac:spMkLst>
        </pc:spChg>
        <pc:picChg chg="del mod">
          <ac:chgData name="Matheswaran S" userId="97a9492b636ac222" providerId="LiveId" clId="{82E31F27-50C9-4B15-A0C6-682795869383}" dt="2026-06-18T10:38:44.159" v="506" actId="478"/>
          <ac:picMkLst>
            <pc:docMk/>
            <pc:sldMk cId="2533515940" sldId="271"/>
            <ac:picMk id="2" creationId="{1D0AD7D0-5093-E62E-CE42-EEE553EDD078}"/>
          </ac:picMkLst>
        </pc:picChg>
        <pc:picChg chg="add mod modCrop">
          <ac:chgData name="Matheswaran S" userId="97a9492b636ac222" providerId="LiveId" clId="{82E31F27-50C9-4B15-A0C6-682795869383}" dt="2026-06-18T10:41:59.857" v="528"/>
          <ac:picMkLst>
            <pc:docMk/>
            <pc:sldMk cId="2533515940" sldId="271"/>
            <ac:picMk id="11" creationId="{2DDE8D3E-4F7B-DF8E-C40F-7567A4C8CC4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8F093-68FD-C58E-7DC5-9718141F4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04306D-4798-1E6F-BAE8-06CB8B33111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1553A0-2620-0F90-6554-A5DC092D8C93}"/>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5" name="Footer Placeholder 4">
            <a:extLst>
              <a:ext uri="{FF2B5EF4-FFF2-40B4-BE49-F238E27FC236}">
                <a16:creationId xmlns:a16="http://schemas.microsoft.com/office/drawing/2014/main" id="{F068AF96-5614-548B-DC79-465E512155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BC2C-FD0F-679A-1419-DBE31C0B77BC}"/>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3050511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04BDE-B9FF-C99D-8316-53DF504421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8BA066-6487-4C0C-AE43-4AB93BE3B3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A97840-8B30-ECA8-A720-D689A5B9306A}"/>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5" name="Footer Placeholder 4">
            <a:extLst>
              <a:ext uri="{FF2B5EF4-FFF2-40B4-BE49-F238E27FC236}">
                <a16:creationId xmlns:a16="http://schemas.microsoft.com/office/drawing/2014/main" id="{B0E0EF94-1E04-3C79-FF70-3CC7DBF35D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1DE51A-6E0F-B80F-D1E6-A36EDA3E18E3}"/>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012997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11B3D-2A1E-3BC2-3757-9914B93C897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31F80F-4F66-7657-244E-4CC1011A4B6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5BBF44-DE18-3833-7873-BE1B99EDD382}"/>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5" name="Footer Placeholder 4">
            <a:extLst>
              <a:ext uri="{FF2B5EF4-FFF2-40B4-BE49-F238E27FC236}">
                <a16:creationId xmlns:a16="http://schemas.microsoft.com/office/drawing/2014/main" id="{B950C201-4846-158C-8900-2EB0FB6CDA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FE0A1F-6524-5B20-C5C7-EB00B2A07A9E}"/>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772513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0BB58-DD57-AA96-4298-0A37EB87BFD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4DB9F0-FC10-D6F8-248C-E2342D634A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EFA845B-EFDD-C0D2-FBEA-3F76831B56D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2C27AA-BD40-1B90-B7DC-17A9ED5D099C}"/>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6" name="Footer Placeholder 5">
            <a:extLst>
              <a:ext uri="{FF2B5EF4-FFF2-40B4-BE49-F238E27FC236}">
                <a16:creationId xmlns:a16="http://schemas.microsoft.com/office/drawing/2014/main" id="{391707D9-D410-5996-19AD-E96506663F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BAFABA-9632-6E7B-7407-6D87D998BFDF}"/>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3275473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303C5-1CEE-1853-F9EB-63E867EB17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3A0EB7E-AD7A-25D9-4E79-FEBC3BE31A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706B69-3EF1-89D6-60B1-4E9ACFAE38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073FC0-B02D-2C7A-0700-6FF345111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567D85F-FAFA-F1E4-58E5-4713999497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9DE39C3-E853-9845-C348-817F8C42B4DE}"/>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8" name="Footer Placeholder 7">
            <a:extLst>
              <a:ext uri="{FF2B5EF4-FFF2-40B4-BE49-F238E27FC236}">
                <a16:creationId xmlns:a16="http://schemas.microsoft.com/office/drawing/2014/main" id="{5609DD49-9210-4A4B-2A2D-23C87D59A8D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0E776FE-F01C-70EC-1CB9-F847BA714CD9}"/>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934551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1A93-5B81-3EA0-E514-24099D0D6E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25DE2-32B2-A414-9E2F-A7641E2F1FB4}"/>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4" name="Footer Placeholder 3">
            <a:extLst>
              <a:ext uri="{FF2B5EF4-FFF2-40B4-BE49-F238E27FC236}">
                <a16:creationId xmlns:a16="http://schemas.microsoft.com/office/drawing/2014/main" id="{FD09E98A-6091-7E25-66E2-7B49F93C5DC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FC18BCD-586B-5A07-4452-393FBAC65B19}"/>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13106511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873AC23-FE03-B162-9547-4A01159DE3C0}"/>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3" name="Footer Placeholder 2">
            <a:extLst>
              <a:ext uri="{FF2B5EF4-FFF2-40B4-BE49-F238E27FC236}">
                <a16:creationId xmlns:a16="http://schemas.microsoft.com/office/drawing/2014/main" id="{4CD59361-F017-2A07-C24F-7B69E311DB5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CAC3EE1-6CFA-9C33-63D4-E573D2FDA5C8}"/>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3106842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E50ED-AFFF-AE4F-8F3E-5324C2D0C0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858E62-69AE-F329-5D41-F363797673B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B95FE86-DD41-31B6-30FE-DC4FED33EE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1F6132-0D36-5AA7-8727-4546CFC5FE98}"/>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6" name="Footer Placeholder 5">
            <a:extLst>
              <a:ext uri="{FF2B5EF4-FFF2-40B4-BE49-F238E27FC236}">
                <a16:creationId xmlns:a16="http://schemas.microsoft.com/office/drawing/2014/main" id="{CBABF374-DAD3-BEA8-3281-371A005151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AE5B14-209D-FF38-207A-02DAF9FD1B33}"/>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9220948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459ED-F3CF-AC3B-0BDF-F2386C5CC7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863EC6-7F9A-2F09-504A-765BC10672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6F3A3F8-90A4-B413-50FF-838DFAC385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A835D6-AAAC-EDDB-07B0-016DCD92A1C8}"/>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6" name="Footer Placeholder 5">
            <a:extLst>
              <a:ext uri="{FF2B5EF4-FFF2-40B4-BE49-F238E27FC236}">
                <a16:creationId xmlns:a16="http://schemas.microsoft.com/office/drawing/2014/main" id="{C7CC0050-EEAE-94D3-59F9-909B96C968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495896-BF35-1768-308B-B53CBDAD7266}"/>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3545909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2E1DF-CFB7-5118-7AAE-F8768C6B60C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1CAE1EF-B1B8-2F05-429E-C633DFDD8B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9095ED-A8CC-7B08-6D70-793655AFBFBD}"/>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5" name="Footer Placeholder 4">
            <a:extLst>
              <a:ext uri="{FF2B5EF4-FFF2-40B4-BE49-F238E27FC236}">
                <a16:creationId xmlns:a16="http://schemas.microsoft.com/office/drawing/2014/main" id="{E3851C4F-AB0C-5A8D-4F5B-BBD1577376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2AEB76-A06E-D05A-B1AA-1E4569CE24BE}"/>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293888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2EAEF4D-9DAE-AA9F-2A46-BBABB5B9AE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A8084AD-4131-14DB-B5D3-327652D9E6B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77704A-25EC-4E1A-7828-50D74DC1B39F}"/>
              </a:ext>
            </a:extLst>
          </p:cNvPr>
          <p:cNvSpPr>
            <a:spLocks noGrp="1"/>
          </p:cNvSpPr>
          <p:nvPr>
            <p:ph type="dt" sz="half" idx="10"/>
          </p:nvPr>
        </p:nvSpPr>
        <p:spPr/>
        <p:txBody>
          <a:bodyPr/>
          <a:lstStyle/>
          <a:p>
            <a:fld id="{E5CC4EB7-DA4B-450B-9A47-9F5BFAF8F272}" type="datetimeFigureOut">
              <a:rPr lang="en-US" smtClean="0"/>
              <a:t>6/18/2026</a:t>
            </a:fld>
            <a:endParaRPr lang="en-US"/>
          </a:p>
        </p:txBody>
      </p:sp>
      <p:sp>
        <p:nvSpPr>
          <p:cNvPr id="5" name="Footer Placeholder 4">
            <a:extLst>
              <a:ext uri="{FF2B5EF4-FFF2-40B4-BE49-F238E27FC236}">
                <a16:creationId xmlns:a16="http://schemas.microsoft.com/office/drawing/2014/main" id="{D65D8971-0CB7-C530-71B2-EF6B770D35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27920-75D1-C4F1-24BE-24507F9B7884}"/>
              </a:ext>
            </a:extLst>
          </p:cNvPr>
          <p:cNvSpPr>
            <a:spLocks noGrp="1"/>
          </p:cNvSpPr>
          <p:nvPr>
            <p:ph type="sldNum" sz="quarter" idx="12"/>
          </p:nvPr>
        </p:nvSpPr>
        <p:spPr/>
        <p:txBody>
          <a:bodyPr/>
          <a:lstStyle/>
          <a:p>
            <a:fld id="{A178B93D-36D4-44EF-AF2C-BF75ADFEC787}" type="slidenum">
              <a:rPr lang="en-US" smtClean="0"/>
              <a:t>‹#›</a:t>
            </a:fld>
            <a:endParaRPr lang="en-US"/>
          </a:p>
        </p:txBody>
      </p:sp>
    </p:spTree>
    <p:extLst>
      <p:ext uri="{BB962C8B-B14F-4D97-AF65-F5344CB8AC3E}">
        <p14:creationId xmlns:p14="http://schemas.microsoft.com/office/powerpoint/2010/main" val="28587632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A9D9FE-FF10-15C8-E286-C505A28D7F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C7864B-D40A-7481-52FA-6AC905D509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AAE973-DCB9-B4C8-AD5D-9F15C401F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CC4EB7-DA4B-450B-9A47-9F5BFAF8F272}" type="datetimeFigureOut">
              <a:rPr lang="en-US" smtClean="0"/>
              <a:t>6/18/2026</a:t>
            </a:fld>
            <a:endParaRPr lang="en-US"/>
          </a:p>
        </p:txBody>
      </p:sp>
      <p:sp>
        <p:nvSpPr>
          <p:cNvPr id="5" name="Footer Placeholder 4">
            <a:extLst>
              <a:ext uri="{FF2B5EF4-FFF2-40B4-BE49-F238E27FC236}">
                <a16:creationId xmlns:a16="http://schemas.microsoft.com/office/drawing/2014/main" id="{4507E54D-5582-108B-52C8-1435B46238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FD1AB12-DE8B-D390-74CF-96AE62C663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178B93D-36D4-44EF-AF2C-BF75ADFEC787}" type="slidenum">
              <a:rPr lang="en-US" smtClean="0"/>
              <a:t>‹#›</a:t>
            </a:fld>
            <a:endParaRPr lang="en-US"/>
          </a:p>
        </p:txBody>
      </p:sp>
    </p:spTree>
    <p:extLst>
      <p:ext uri="{BB962C8B-B14F-4D97-AF65-F5344CB8AC3E}">
        <p14:creationId xmlns:p14="http://schemas.microsoft.com/office/powerpoint/2010/main" val="2619349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hyperlink" Target="https://drive.google.com/file/d/1WEqnDNSu0PBs_ENfD7Vvpty2qYha-Q2U/view?usp=sharing" TargetMode="External"/><Relationship Id="rId5" Type="http://schemas.openxmlformats.org/officeDocument/2006/relationships/image" Target="../media/image8.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DDA9511-7F62-11C5-F58B-73C8DDD33D00}"/>
              </a:ext>
            </a:extLst>
          </p:cNvPr>
          <p:cNvSpPr>
            <a:spLocks noGrp="1"/>
          </p:cNvSpPr>
          <p:nvPr>
            <p:ph type="subTitle" idx="1"/>
          </p:nvPr>
        </p:nvSpPr>
        <p:spPr>
          <a:xfrm>
            <a:off x="3881510" y="1313712"/>
            <a:ext cx="4631089" cy="493295"/>
          </a:xfrm>
        </p:spPr>
        <p:txBody>
          <a:bodyPr>
            <a:noAutofit/>
          </a:bodyPr>
          <a:lstStyle/>
          <a:p>
            <a:pPr algn="l"/>
            <a:r>
              <a:rPr lang="en-US" sz="3000" b="1" dirty="0"/>
              <a:t>Team Name: </a:t>
            </a:r>
            <a:r>
              <a:rPr lang="en-IN" sz="3000" b="1" dirty="0"/>
              <a:t>Cognitive Crew</a:t>
            </a:r>
            <a:r>
              <a:rPr lang="en-US" sz="3000" b="1" dirty="0"/>
              <a:t> </a:t>
            </a:r>
            <a:endParaRPr lang="en-IN" sz="3000" b="1" dirty="0"/>
          </a:p>
          <a:p>
            <a:pPr algn="l"/>
            <a:endParaRPr lang="en-US" sz="3000" b="1" dirty="0"/>
          </a:p>
        </p:txBody>
      </p:sp>
      <p:grpSp>
        <p:nvGrpSpPr>
          <p:cNvPr id="14" name="Group 13">
            <a:extLst>
              <a:ext uri="{FF2B5EF4-FFF2-40B4-BE49-F238E27FC236}">
                <a16:creationId xmlns:a16="http://schemas.microsoft.com/office/drawing/2014/main" id="{C0CD93BE-C73B-2496-A35E-BB03A8CCF1FB}"/>
              </a:ext>
            </a:extLst>
          </p:cNvPr>
          <p:cNvGrpSpPr/>
          <p:nvPr/>
        </p:nvGrpSpPr>
        <p:grpSpPr>
          <a:xfrm>
            <a:off x="0" y="-1"/>
            <a:ext cx="1408497" cy="2618073"/>
            <a:chOff x="0" y="-1"/>
            <a:chExt cx="2011680" cy="3195587"/>
          </a:xfrm>
        </p:grpSpPr>
        <p:sp>
          <p:nvSpPr>
            <p:cNvPr id="12" name="Trapezoid 11">
              <a:extLst>
                <a:ext uri="{FF2B5EF4-FFF2-40B4-BE49-F238E27FC236}">
                  <a16:creationId xmlns:a16="http://schemas.microsoft.com/office/drawing/2014/main" id="{5855FEB3-8E20-DB07-3A45-B163BEDD4E92}"/>
                </a:ext>
              </a:extLst>
            </p:cNvPr>
            <p:cNvSpPr/>
            <p:nvPr/>
          </p:nvSpPr>
          <p:spPr>
            <a:xfrm rot="16200000">
              <a:off x="-1299411" y="1299410"/>
              <a:ext cx="3195587" cy="596766"/>
            </a:xfrm>
            <a:prstGeom prst="trapezoid">
              <a:avLst>
                <a:gd name="adj" fmla="val 57703"/>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FE9B951A-B7C5-103B-A75C-04080B072708}"/>
                </a:ext>
              </a:extLst>
            </p:cNvPr>
            <p:cNvSpPr/>
            <p:nvPr/>
          </p:nvSpPr>
          <p:spPr>
            <a:xfrm rot="5400000">
              <a:off x="62564" y="-62564"/>
              <a:ext cx="1886552" cy="2011680"/>
            </a:xfrm>
            <a:prstGeom prst="triangle">
              <a:avLst>
                <a:gd name="adj" fmla="val 0"/>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DFB7ED9-8FEA-68C2-1581-2AD4D48C8EA1}"/>
              </a:ext>
            </a:extLst>
          </p:cNvPr>
          <p:cNvGrpSpPr/>
          <p:nvPr/>
        </p:nvGrpSpPr>
        <p:grpSpPr>
          <a:xfrm rot="10800000">
            <a:off x="10783503" y="4239927"/>
            <a:ext cx="1408497" cy="2618073"/>
            <a:chOff x="0" y="-1"/>
            <a:chExt cx="2011680" cy="3195587"/>
          </a:xfrm>
        </p:grpSpPr>
        <p:sp>
          <p:nvSpPr>
            <p:cNvPr id="19" name="Trapezoid 18">
              <a:extLst>
                <a:ext uri="{FF2B5EF4-FFF2-40B4-BE49-F238E27FC236}">
                  <a16:creationId xmlns:a16="http://schemas.microsoft.com/office/drawing/2014/main" id="{1924C38F-30FE-4C32-2331-0B689A573952}"/>
                </a:ext>
              </a:extLst>
            </p:cNvPr>
            <p:cNvSpPr/>
            <p:nvPr/>
          </p:nvSpPr>
          <p:spPr>
            <a:xfrm rot="16200000">
              <a:off x="-1299411" y="1299410"/>
              <a:ext cx="3195587" cy="596766"/>
            </a:xfrm>
            <a:prstGeom prst="trapezoid">
              <a:avLst>
                <a:gd name="adj" fmla="val 57703"/>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FBA4881D-E0D0-4A69-E614-B133950F4D46}"/>
                </a:ext>
              </a:extLst>
            </p:cNvPr>
            <p:cNvSpPr/>
            <p:nvPr/>
          </p:nvSpPr>
          <p:spPr>
            <a:xfrm rot="5400000">
              <a:off x="62564" y="-62564"/>
              <a:ext cx="1886552" cy="2011680"/>
            </a:xfrm>
            <a:prstGeom prst="triangle">
              <a:avLst>
                <a:gd name="adj" fmla="val 0"/>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2" name="Table 21">
            <a:extLst>
              <a:ext uri="{FF2B5EF4-FFF2-40B4-BE49-F238E27FC236}">
                <a16:creationId xmlns:a16="http://schemas.microsoft.com/office/drawing/2014/main" id="{78BE5405-2BA7-EE98-A3B5-48B3659359C9}"/>
              </a:ext>
            </a:extLst>
          </p:cNvPr>
          <p:cNvGraphicFramePr>
            <a:graphicFrameLocks noGrp="1"/>
          </p:cNvGraphicFramePr>
          <p:nvPr>
            <p:extLst>
              <p:ext uri="{D42A27DB-BD31-4B8C-83A1-F6EECF244321}">
                <p14:modId xmlns:p14="http://schemas.microsoft.com/office/powerpoint/2010/main" val="1577437105"/>
              </p:ext>
            </p:extLst>
          </p:nvPr>
        </p:nvGraphicFramePr>
        <p:xfrm>
          <a:off x="1337911" y="2062008"/>
          <a:ext cx="9516177" cy="2308228"/>
        </p:xfrm>
        <a:graphic>
          <a:graphicData uri="http://schemas.openxmlformats.org/drawingml/2006/table">
            <a:tbl>
              <a:tblPr firstRow="1" bandRow="1">
                <a:tableStyleId>{5C22544A-7EE6-4342-B048-85BDC9FD1C3A}</a:tableStyleId>
              </a:tblPr>
              <a:tblGrid>
                <a:gridCol w="1061861">
                  <a:extLst>
                    <a:ext uri="{9D8B030D-6E8A-4147-A177-3AD203B41FA5}">
                      <a16:colId xmlns:a16="http://schemas.microsoft.com/office/drawing/2014/main" val="851999733"/>
                    </a:ext>
                  </a:extLst>
                </a:gridCol>
                <a:gridCol w="1866713">
                  <a:extLst>
                    <a:ext uri="{9D8B030D-6E8A-4147-A177-3AD203B41FA5}">
                      <a16:colId xmlns:a16="http://schemas.microsoft.com/office/drawing/2014/main" val="1992405959"/>
                    </a:ext>
                  </a:extLst>
                </a:gridCol>
                <a:gridCol w="4494312">
                  <a:extLst>
                    <a:ext uri="{9D8B030D-6E8A-4147-A177-3AD203B41FA5}">
                      <a16:colId xmlns:a16="http://schemas.microsoft.com/office/drawing/2014/main" val="3188398021"/>
                    </a:ext>
                  </a:extLst>
                </a:gridCol>
                <a:gridCol w="2093291">
                  <a:extLst>
                    <a:ext uri="{9D8B030D-6E8A-4147-A177-3AD203B41FA5}">
                      <a16:colId xmlns:a16="http://schemas.microsoft.com/office/drawing/2014/main" val="3912376789"/>
                    </a:ext>
                  </a:extLst>
                </a:gridCol>
              </a:tblGrid>
              <a:tr h="577057">
                <a:tc>
                  <a:txBody>
                    <a:bodyPr/>
                    <a:lstStyle/>
                    <a:p>
                      <a:pPr algn="ctr"/>
                      <a:r>
                        <a:rPr lang="en-US" dirty="0"/>
                        <a:t>SL NO.</a:t>
                      </a:r>
                    </a:p>
                  </a:txBody>
                  <a:tcPr anchor="ctr"/>
                </a:tc>
                <a:tc>
                  <a:txBody>
                    <a:bodyPr/>
                    <a:lstStyle/>
                    <a:p>
                      <a:pPr algn="ctr"/>
                      <a:r>
                        <a:rPr lang="en-US" dirty="0"/>
                        <a:t>MEMBERS</a:t>
                      </a:r>
                    </a:p>
                  </a:txBody>
                  <a:tcPr anchor="ctr"/>
                </a:tc>
                <a:tc>
                  <a:txBody>
                    <a:bodyPr/>
                    <a:lstStyle/>
                    <a:p>
                      <a:pPr algn="ctr"/>
                      <a:r>
                        <a:rPr lang="en-US" dirty="0"/>
                        <a:t>NAME</a:t>
                      </a:r>
                    </a:p>
                  </a:txBody>
                  <a:tcPr anchor="ctr"/>
                </a:tc>
                <a:tc>
                  <a:txBody>
                    <a:bodyPr/>
                    <a:lstStyle/>
                    <a:p>
                      <a:pPr algn="ctr"/>
                      <a:r>
                        <a:rPr lang="en-US" dirty="0"/>
                        <a:t>ACADEMIC YEAR</a:t>
                      </a:r>
                    </a:p>
                  </a:txBody>
                  <a:tcPr anchor="ctr"/>
                </a:tc>
                <a:extLst>
                  <a:ext uri="{0D108BD9-81ED-4DB2-BD59-A6C34878D82A}">
                    <a16:rowId xmlns:a16="http://schemas.microsoft.com/office/drawing/2014/main" val="1148825990"/>
                  </a:ext>
                </a:extLst>
              </a:tr>
              <a:tr h="577057">
                <a:tc>
                  <a:txBody>
                    <a:bodyPr/>
                    <a:lstStyle/>
                    <a:p>
                      <a:pPr algn="ctr"/>
                      <a:r>
                        <a:rPr lang="en-US" dirty="0"/>
                        <a:t>01.</a:t>
                      </a:r>
                    </a:p>
                  </a:txBody>
                  <a:tcPr anchor="ctr"/>
                </a:tc>
                <a:tc>
                  <a:txBody>
                    <a:bodyPr/>
                    <a:lstStyle/>
                    <a:p>
                      <a:pPr algn="ctr"/>
                      <a:r>
                        <a:rPr lang="en-US" dirty="0"/>
                        <a:t>Team Lead</a:t>
                      </a:r>
                    </a:p>
                  </a:txBody>
                  <a:tcPr anchor="ctr"/>
                </a:tc>
                <a:tc>
                  <a:txBody>
                    <a:bodyPr/>
                    <a:lstStyle/>
                    <a:p>
                      <a:pPr algn="ctr"/>
                      <a:r>
                        <a:rPr lang="en-IN" sz="1800" b="0" i="0" kern="1200" dirty="0">
                          <a:solidFill>
                            <a:schemeClr val="dk1"/>
                          </a:solidFill>
                          <a:effectLst/>
                          <a:latin typeface="+mn-lt"/>
                          <a:ea typeface="+mn-ea"/>
                          <a:cs typeface="+mn-cs"/>
                        </a:rPr>
                        <a:t>Matheswaran S</a:t>
                      </a:r>
                      <a:endParaRPr lang="en-US" dirty="0"/>
                    </a:p>
                  </a:txBody>
                  <a:tcPr anchor="ctr"/>
                </a:tc>
                <a:tc>
                  <a:txBody>
                    <a:bodyPr/>
                    <a:lstStyle/>
                    <a:p>
                      <a:pPr algn="ctr"/>
                      <a:r>
                        <a:rPr lang="en-US" dirty="0"/>
                        <a:t>IV</a:t>
                      </a:r>
                    </a:p>
                  </a:txBody>
                  <a:tcPr anchor="ctr"/>
                </a:tc>
                <a:extLst>
                  <a:ext uri="{0D108BD9-81ED-4DB2-BD59-A6C34878D82A}">
                    <a16:rowId xmlns:a16="http://schemas.microsoft.com/office/drawing/2014/main" val="1132850124"/>
                  </a:ext>
                </a:extLst>
              </a:tr>
              <a:tr h="577057">
                <a:tc>
                  <a:txBody>
                    <a:bodyPr/>
                    <a:lstStyle/>
                    <a:p>
                      <a:pPr algn="ctr"/>
                      <a:r>
                        <a:rPr lang="en-US" dirty="0"/>
                        <a:t>02.</a:t>
                      </a:r>
                    </a:p>
                  </a:txBody>
                  <a:tcPr anchor="ctr"/>
                </a:tc>
                <a:tc>
                  <a:txBody>
                    <a:bodyPr/>
                    <a:lstStyle/>
                    <a:p>
                      <a:pPr algn="ctr"/>
                      <a:r>
                        <a:rPr lang="en-US" dirty="0"/>
                        <a:t>Member 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b="0" i="0" kern="1200" dirty="0">
                          <a:solidFill>
                            <a:schemeClr val="dk1"/>
                          </a:solidFill>
                          <a:effectLst/>
                          <a:latin typeface="+mn-lt"/>
                          <a:ea typeface="+mn-ea"/>
                          <a:cs typeface="+mn-cs"/>
                        </a:rPr>
                        <a:t>Nithish </a:t>
                      </a:r>
                      <a:r>
                        <a:rPr lang="en-IN" sz="1800" b="0" i="0" kern="1200" dirty="0" err="1">
                          <a:solidFill>
                            <a:schemeClr val="dk1"/>
                          </a:solidFill>
                          <a:effectLst/>
                          <a:latin typeface="+mn-lt"/>
                          <a:ea typeface="+mn-ea"/>
                          <a:cs typeface="+mn-cs"/>
                        </a:rPr>
                        <a:t>kumar</a:t>
                      </a:r>
                      <a:r>
                        <a:rPr lang="en-IN" sz="1800" b="0" i="0" kern="1200" dirty="0">
                          <a:solidFill>
                            <a:schemeClr val="dk1"/>
                          </a:solidFill>
                          <a:effectLst/>
                          <a:latin typeface="+mn-lt"/>
                          <a:ea typeface="+mn-ea"/>
                          <a:cs typeface="+mn-cs"/>
                        </a:rPr>
                        <a:t> G</a:t>
                      </a:r>
                    </a:p>
                  </a:txBody>
                  <a:tcPr anchor="ctr"/>
                </a:tc>
                <a:tc>
                  <a:txBody>
                    <a:bodyPr/>
                    <a:lstStyle/>
                    <a:p>
                      <a:pPr algn="ctr"/>
                      <a:r>
                        <a:rPr lang="en-US" dirty="0"/>
                        <a:t>IV</a:t>
                      </a:r>
                    </a:p>
                  </a:txBody>
                  <a:tcPr anchor="ctr"/>
                </a:tc>
                <a:extLst>
                  <a:ext uri="{0D108BD9-81ED-4DB2-BD59-A6C34878D82A}">
                    <a16:rowId xmlns:a16="http://schemas.microsoft.com/office/drawing/2014/main" val="1045046448"/>
                  </a:ext>
                </a:extLst>
              </a:tr>
              <a:tr h="577057">
                <a:tc>
                  <a:txBody>
                    <a:bodyPr/>
                    <a:lstStyle/>
                    <a:p>
                      <a:pPr algn="ctr"/>
                      <a:r>
                        <a:rPr lang="en-US" dirty="0"/>
                        <a:t>03.</a:t>
                      </a:r>
                    </a:p>
                  </a:txBody>
                  <a:tcPr anchor="ctr"/>
                </a:tc>
                <a:tc>
                  <a:txBody>
                    <a:bodyPr/>
                    <a:lstStyle/>
                    <a:p>
                      <a:pPr algn="ctr"/>
                      <a:r>
                        <a:rPr lang="en-US" dirty="0"/>
                        <a:t>Member 03</a:t>
                      </a:r>
                    </a:p>
                  </a:txBody>
                  <a:tcPr anchor="ctr"/>
                </a:tc>
                <a:tc>
                  <a:txBody>
                    <a:bodyPr/>
                    <a:lstStyle/>
                    <a:p>
                      <a:pPr algn="ctr"/>
                      <a:r>
                        <a:rPr lang="en-IN" sz="1800" b="0" i="0" kern="1200" dirty="0">
                          <a:solidFill>
                            <a:schemeClr val="dk1"/>
                          </a:solidFill>
                          <a:effectLst/>
                          <a:latin typeface="+mn-lt"/>
                          <a:ea typeface="+mn-ea"/>
                          <a:cs typeface="+mn-cs"/>
                        </a:rPr>
                        <a:t>Swathi B </a:t>
                      </a:r>
                      <a:endParaRPr lang="en-US" dirty="0"/>
                    </a:p>
                  </a:txBody>
                  <a:tcPr anchor="ctr"/>
                </a:tc>
                <a:tc>
                  <a:txBody>
                    <a:bodyPr/>
                    <a:lstStyle/>
                    <a:p>
                      <a:pPr algn="ctr"/>
                      <a:r>
                        <a:rPr lang="en-US" dirty="0"/>
                        <a:t>IV</a:t>
                      </a:r>
                    </a:p>
                  </a:txBody>
                  <a:tcPr anchor="ctr"/>
                </a:tc>
                <a:extLst>
                  <a:ext uri="{0D108BD9-81ED-4DB2-BD59-A6C34878D82A}">
                    <a16:rowId xmlns:a16="http://schemas.microsoft.com/office/drawing/2014/main" val="2894538865"/>
                  </a:ext>
                </a:extLst>
              </a:tr>
            </a:tbl>
          </a:graphicData>
        </a:graphic>
      </p:graphicFrame>
      <p:sp>
        <p:nvSpPr>
          <p:cNvPr id="23" name="Subtitle 2">
            <a:extLst>
              <a:ext uri="{FF2B5EF4-FFF2-40B4-BE49-F238E27FC236}">
                <a16:creationId xmlns:a16="http://schemas.microsoft.com/office/drawing/2014/main" id="{B88942F7-FBA0-0B6E-00AC-3A921D942E65}"/>
              </a:ext>
            </a:extLst>
          </p:cNvPr>
          <p:cNvSpPr txBox="1">
            <a:spLocks/>
          </p:cNvSpPr>
          <p:nvPr/>
        </p:nvSpPr>
        <p:spPr>
          <a:xfrm>
            <a:off x="1625054" y="4500867"/>
            <a:ext cx="9144000" cy="94183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200" dirty="0" err="1"/>
              <a:t>Velammal</a:t>
            </a:r>
            <a:r>
              <a:rPr lang="en-US" sz="2200" dirty="0"/>
              <a:t> College of Engineering and Technology</a:t>
            </a:r>
          </a:p>
          <a:p>
            <a:endParaRPr lang="en-US" sz="2200" dirty="0"/>
          </a:p>
        </p:txBody>
      </p:sp>
    </p:spTree>
    <p:extLst>
      <p:ext uri="{BB962C8B-B14F-4D97-AF65-F5344CB8AC3E}">
        <p14:creationId xmlns:p14="http://schemas.microsoft.com/office/powerpoint/2010/main" val="3402818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0281F-6A95-9BE7-2CA3-330F94D1FE47}"/>
              </a:ext>
            </a:extLst>
          </p:cNvPr>
          <p:cNvSpPr>
            <a:spLocks noGrp="1"/>
          </p:cNvSpPr>
          <p:nvPr>
            <p:ph type="title"/>
          </p:nvPr>
        </p:nvSpPr>
        <p:spPr>
          <a:xfrm>
            <a:off x="901405" y="373766"/>
            <a:ext cx="11059427" cy="1009651"/>
          </a:xfrm>
        </p:spPr>
        <p:txBody>
          <a:bodyPr>
            <a:normAutofit/>
          </a:bodyPr>
          <a:lstStyle/>
          <a:p>
            <a:pPr algn="ctr"/>
            <a:r>
              <a:rPr lang="en-IN" sz="3000" dirty="0" err="1">
                <a:latin typeface="Arial" panose="020B0604020202020204" pitchFamily="34" charset="0"/>
                <a:cs typeface="Arial" panose="020B0604020202020204" pitchFamily="34" charset="0"/>
              </a:rPr>
              <a:t>Zintellect</a:t>
            </a:r>
            <a:r>
              <a:rPr lang="en-IN" sz="3000" dirty="0">
                <a:latin typeface="Arial" panose="020B0604020202020204" pitchFamily="34" charset="0"/>
                <a:cs typeface="Arial" panose="020B0604020202020204" pitchFamily="34" charset="0"/>
              </a:rPr>
              <a:t> AI: Intelligent Healthcare Prior Authorization Automation Platform</a:t>
            </a:r>
            <a:endParaRPr lang="en-US" sz="3000" b="1"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E166690A-AE08-D29E-8ADC-15F92778C433}"/>
              </a:ext>
            </a:extLst>
          </p:cNvPr>
          <p:cNvSpPr>
            <a:spLocks noGrp="1"/>
          </p:cNvSpPr>
          <p:nvPr>
            <p:ph idx="1"/>
          </p:nvPr>
        </p:nvSpPr>
        <p:spPr>
          <a:xfrm>
            <a:off x="837398" y="1193801"/>
            <a:ext cx="11059426" cy="5638798"/>
          </a:xfrm>
        </p:spPr>
        <p:txBody>
          <a:bodyPr>
            <a:normAutofit lnSpcReduction="10000"/>
          </a:bodyPr>
          <a:lstStyle/>
          <a:p>
            <a:pPr marL="0" indent="0">
              <a:buNone/>
            </a:pPr>
            <a:r>
              <a:rPr lang="en-IN" sz="2000" b="1" u="sng" dirty="0"/>
              <a:t>Problem Statement:</a:t>
            </a:r>
          </a:p>
          <a:p>
            <a:pPr marL="0" indent="0">
              <a:lnSpc>
                <a:spcPct val="110000"/>
              </a:lnSpc>
              <a:buNone/>
            </a:pPr>
            <a:r>
              <a:rPr lang="en-US" sz="1600" dirty="0"/>
              <a:t>     </a:t>
            </a:r>
            <a:r>
              <a:rPr lang="en-IN" sz="1600" dirty="0"/>
              <a:t>In insurance-based healthcare systems, patients face critical administrative barriers before accessing specialist treatments, medications and procedures. Prior authorization is heavily dependent on manual paperwork, scanned document processing, repetitive data entry and complex policy verification between doctors and insurers. Existing systems cannot process handwritten or scanned medical documents and lack dynamic policy matching capability, causing treatment delays, exhausted clinical staff and inequitable patient access. </a:t>
            </a:r>
            <a:r>
              <a:rPr lang="en-IN" sz="1600" dirty="0" err="1"/>
              <a:t>Zintellect</a:t>
            </a:r>
            <a:r>
              <a:rPr lang="en-IN" sz="1600" dirty="0"/>
              <a:t> AI eliminates this friction between a clinical decision to treat and the patient's actual receipt of treatment through a scalable, auditable and rights-protective Hybrid AI automation platform.</a:t>
            </a:r>
            <a:endParaRPr lang="en-IN" sz="1600" b="1" u="sng" dirty="0"/>
          </a:p>
          <a:p>
            <a:pPr marL="0" indent="0">
              <a:lnSpc>
                <a:spcPct val="110000"/>
              </a:lnSpc>
              <a:buNone/>
            </a:pPr>
            <a:r>
              <a:rPr lang="en-IN" sz="2000" b="1" u="sng" dirty="0"/>
              <a:t>Problem Scope:</a:t>
            </a:r>
          </a:p>
          <a:p>
            <a:pPr>
              <a:buFont typeface="Wingdings" panose="05000000000000000000" pitchFamily="2" charset="2"/>
              <a:buChar char="Ø"/>
            </a:pPr>
            <a:r>
              <a:rPr lang="en-IN" sz="1600" dirty="0"/>
              <a:t>Automate prior authorization workflows in insurance-based healthcare using Hybrid AI</a:t>
            </a:r>
          </a:p>
          <a:p>
            <a:pPr>
              <a:buFont typeface="Wingdings" panose="05000000000000000000" pitchFamily="2" charset="2"/>
              <a:buChar char="Ø"/>
            </a:pPr>
            <a:r>
              <a:rPr lang="en-IN" sz="1600" dirty="0"/>
              <a:t>Process scanned, handwritten and digital medical documents using Multimodal OCR</a:t>
            </a:r>
            <a:endParaRPr lang="en-US" sz="1600" dirty="0"/>
          </a:p>
          <a:p>
            <a:pPr>
              <a:buFont typeface="Wingdings" panose="05000000000000000000" pitchFamily="2" charset="2"/>
              <a:buChar char="Ø"/>
            </a:pPr>
            <a:r>
              <a:rPr lang="en-IN" sz="1600" dirty="0"/>
              <a:t>Extract clinical entities such as symptoms, diagnoses, procedures and CPT codes via NER</a:t>
            </a:r>
          </a:p>
          <a:p>
            <a:pPr>
              <a:buFont typeface="Wingdings" panose="05000000000000000000" pitchFamily="2" charset="2"/>
              <a:buChar char="Ø"/>
            </a:pPr>
            <a:r>
              <a:rPr lang="en-IN" sz="1600" dirty="0"/>
              <a:t>Dynamically retrieve insurance policy clauses using RAG based semantic search</a:t>
            </a:r>
          </a:p>
          <a:p>
            <a:pPr>
              <a:buFont typeface="Wingdings" panose="05000000000000000000" pitchFamily="2" charset="2"/>
              <a:buChar char="Ø"/>
            </a:pPr>
            <a:r>
              <a:rPr lang="en-IN" sz="1600" dirty="0"/>
              <a:t>Validate treatment requests against insurance policies using AI rule engine</a:t>
            </a:r>
          </a:p>
          <a:p>
            <a:pPr>
              <a:buFont typeface="Wingdings" panose="05000000000000000000" pitchFamily="2" charset="2"/>
              <a:buChar char="Ø"/>
            </a:pPr>
            <a:r>
              <a:rPr lang="en-IN" sz="1600" dirty="0"/>
              <a:t>Accelerate approval and rejection decisions using weighted risk scoring</a:t>
            </a:r>
          </a:p>
          <a:p>
            <a:pPr>
              <a:buFont typeface="Wingdings" panose="05000000000000000000" pitchFamily="2" charset="2"/>
              <a:buChar char="Ø"/>
            </a:pPr>
            <a:r>
              <a:rPr lang="en-IN" sz="1600" dirty="0"/>
              <a:t>Ensure auditable decisions through Explainable AI reasoning traces</a:t>
            </a:r>
          </a:p>
          <a:p>
            <a:pPr>
              <a:buFont typeface="Wingdings" panose="05000000000000000000" pitchFamily="2" charset="2"/>
              <a:buChar char="Ø"/>
            </a:pPr>
            <a:r>
              <a:rPr lang="en-IN" sz="1600" dirty="0"/>
              <a:t>Enable AI assisted decision support while retaining provider oversight</a:t>
            </a:r>
          </a:p>
          <a:p>
            <a:pPr>
              <a:buFont typeface="Wingdings" panose="05000000000000000000" pitchFamily="2" charset="2"/>
              <a:buChar char="Ø"/>
            </a:pPr>
            <a:r>
              <a:rPr lang="en-IN" sz="1600" dirty="0"/>
              <a:t>Minimize administrative burden and reduce authorization turnaround time</a:t>
            </a:r>
          </a:p>
          <a:p>
            <a:pPr>
              <a:buFont typeface="Wingdings" panose="05000000000000000000" pitchFamily="2" charset="2"/>
              <a:buChar char="Ø"/>
            </a:pPr>
            <a:r>
              <a:rPr lang="en-IN" sz="1600" dirty="0"/>
              <a:t>Improve patient access to timely healthcare services through faster approvals</a:t>
            </a:r>
          </a:p>
        </p:txBody>
      </p:sp>
      <p:sp>
        <p:nvSpPr>
          <p:cNvPr id="4" name="Rectangle 3">
            <a:extLst>
              <a:ext uri="{FF2B5EF4-FFF2-40B4-BE49-F238E27FC236}">
                <a16:creationId xmlns:a16="http://schemas.microsoft.com/office/drawing/2014/main" id="{A294613C-2FB3-8FA8-26F3-57FD7648F2CC}"/>
              </a:ext>
            </a:extLst>
          </p:cNvPr>
          <p:cNvSpPr/>
          <p:nvPr/>
        </p:nvSpPr>
        <p:spPr>
          <a:xfrm>
            <a:off x="0" y="0"/>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872B1F32-441A-FAF6-BB6C-AFC4880E58F7}"/>
              </a:ext>
            </a:extLst>
          </p:cNvPr>
          <p:cNvSpPr txBox="1">
            <a:spLocks/>
          </p:cNvSpPr>
          <p:nvPr/>
        </p:nvSpPr>
        <p:spPr>
          <a:xfrm rot="10800000" flipV="1">
            <a:off x="837397" y="99828"/>
            <a:ext cx="7175795" cy="403669"/>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mn-lt"/>
              </a:rPr>
              <a:t>Track:</a:t>
            </a:r>
            <a:r>
              <a:rPr lang="en-IN" b="1" dirty="0">
                <a:latin typeface="+mn-lt"/>
              </a:rPr>
              <a:t> Human – AI Collaboration </a:t>
            </a:r>
            <a:endParaRPr lang="en-US" b="1" dirty="0">
              <a:latin typeface="+mn-lt"/>
            </a:endParaRPr>
          </a:p>
        </p:txBody>
      </p:sp>
      <p:pic>
        <p:nvPicPr>
          <p:cNvPr id="5" name="Picture 4">
            <a:extLst>
              <a:ext uri="{FF2B5EF4-FFF2-40B4-BE49-F238E27FC236}">
                <a16:creationId xmlns:a16="http://schemas.microsoft.com/office/drawing/2014/main" id="{0221EE85-705C-10CE-46EB-3F4609DA97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Tree>
    <p:extLst>
      <p:ext uri="{BB962C8B-B14F-4D97-AF65-F5344CB8AC3E}">
        <p14:creationId xmlns:p14="http://schemas.microsoft.com/office/powerpoint/2010/main" val="17327160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925BA-3F7C-CABE-7862-2DAD632EF9F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5700324-CADA-EF6E-C935-AB0BA766F5AB}"/>
              </a:ext>
            </a:extLst>
          </p:cNvPr>
          <p:cNvSpPr>
            <a:spLocks noGrp="1"/>
          </p:cNvSpPr>
          <p:nvPr>
            <p:ph idx="1"/>
          </p:nvPr>
        </p:nvSpPr>
        <p:spPr>
          <a:xfrm>
            <a:off x="727020" y="998187"/>
            <a:ext cx="11059426" cy="5692585"/>
          </a:xfrm>
        </p:spPr>
        <p:txBody>
          <a:bodyPr>
            <a:normAutofit/>
          </a:bodyPr>
          <a:lstStyle/>
          <a:p>
            <a:pPr marL="0" indent="0">
              <a:buNone/>
            </a:pPr>
            <a:r>
              <a:rPr lang="en-IN" sz="2000" b="1" u="sng" dirty="0"/>
              <a:t>Proposed Solution:</a:t>
            </a:r>
          </a:p>
          <a:p>
            <a:r>
              <a:rPr lang="en-IN" sz="1600" dirty="0"/>
              <a:t>We propose </a:t>
            </a:r>
            <a:r>
              <a:rPr lang="en-IN" sz="1600" dirty="0" err="1"/>
              <a:t>Zintellect</a:t>
            </a:r>
            <a:r>
              <a:rPr lang="en-IN" sz="1600" dirty="0"/>
              <a:t> AI, an AI powered Prior Authorization Automation Platform built on a Hybrid Multimodal Hierarchical RAG Expert System (HMH-RAGES) that streamlines healthcare authorization workflows between doctors, patients and insurance providers.</a:t>
            </a:r>
          </a:p>
          <a:p>
            <a:r>
              <a:rPr lang="en-IN" sz="1600" dirty="0"/>
              <a:t>The system enables healthcare providers to submit authorization requests digitally by uploading patient information, clinical notes, lab reports and scanned documents. The HMH-RAGES pipeline automatically processes multimodal documents, extracts clinical entities via Medical NER and dynamically retrieves relevant insurance policy clauses using RAG based semantic search.</a:t>
            </a:r>
          </a:p>
          <a:p>
            <a:r>
              <a:rPr lang="en-IN" sz="1600" dirty="0"/>
              <a:t>By integrating Multimodal OCR, Hierarchical RAG, Rule Based Expert System and Explainable AI, the platform delivers faster, transparent and auditable authorization outcomes while maintaining accuracy, compliance and provider oversight.</a:t>
            </a:r>
            <a:endParaRPr lang="en-US" sz="1600" dirty="0"/>
          </a:p>
          <a:p>
            <a:pPr marL="0" indent="0">
              <a:buNone/>
            </a:pPr>
            <a:r>
              <a:rPr lang="en-IN" sz="2000" b="1" u="sng" dirty="0"/>
              <a:t>Innovation:</a:t>
            </a:r>
          </a:p>
          <a:p>
            <a:pPr marL="0" indent="0">
              <a:buNone/>
            </a:pPr>
            <a:r>
              <a:rPr lang="en-US" sz="1600" dirty="0"/>
              <a:t>1) </a:t>
            </a:r>
            <a:r>
              <a:rPr lang="en-IN" sz="1600" dirty="0"/>
              <a:t>Hybrid Multimodal Hierarchical RAG Expert System (HMH-RAGES)</a:t>
            </a:r>
          </a:p>
          <a:p>
            <a:pPr marL="0" indent="0">
              <a:buNone/>
            </a:pPr>
            <a:r>
              <a:rPr lang="en-US" sz="1600" dirty="0"/>
              <a:t>2)</a:t>
            </a:r>
            <a:r>
              <a:rPr lang="en-IN" sz="1600" dirty="0"/>
              <a:t> Multimodal OCR Engine for Scanned and Handwritten Document Processing</a:t>
            </a:r>
          </a:p>
          <a:p>
            <a:pPr marL="0" indent="0">
              <a:buNone/>
            </a:pPr>
            <a:r>
              <a:rPr lang="en-US" sz="1600" dirty="0"/>
              <a:t>3) </a:t>
            </a:r>
            <a:r>
              <a:rPr lang="en-IN" sz="1600" dirty="0"/>
              <a:t>Hierarchical RAG Based Dynamic Insurance Policy Retrieval</a:t>
            </a:r>
          </a:p>
          <a:p>
            <a:pPr marL="0" indent="0">
              <a:buNone/>
            </a:pPr>
            <a:r>
              <a:rPr lang="en-US" sz="1600" dirty="0"/>
              <a:t>4) </a:t>
            </a:r>
            <a:r>
              <a:rPr lang="en-IN" sz="1600" dirty="0"/>
              <a:t>Medical NER for Clinical Entity and CPT Code Extraction</a:t>
            </a:r>
          </a:p>
          <a:p>
            <a:pPr marL="0" indent="0">
              <a:buNone/>
            </a:pPr>
            <a:r>
              <a:rPr lang="en-US" sz="1600" dirty="0"/>
              <a:t>5)</a:t>
            </a:r>
            <a:r>
              <a:rPr lang="en-IN" sz="1600" dirty="0"/>
              <a:t> Weighted Risk Scoring with Automated Prior Authorization Decisions</a:t>
            </a:r>
          </a:p>
          <a:p>
            <a:pPr marL="0" indent="0">
              <a:buNone/>
            </a:pPr>
            <a:r>
              <a:rPr lang="en-US" sz="1600" dirty="0"/>
              <a:t>6) </a:t>
            </a:r>
            <a:r>
              <a:rPr lang="en-IN" sz="1600" dirty="0"/>
              <a:t>Explainable AI with Full Decision Reasoning Trace</a:t>
            </a:r>
          </a:p>
          <a:p>
            <a:pPr marL="0" indent="0">
              <a:buNone/>
            </a:pPr>
            <a:r>
              <a:rPr lang="en-IN" sz="1600" dirty="0"/>
              <a:t>7) Human in the Loop Provider Validation Workflow</a:t>
            </a:r>
          </a:p>
          <a:p>
            <a:pPr marL="0" indent="0">
              <a:buNone/>
            </a:pPr>
            <a:r>
              <a:rPr lang="en-IN" sz="1600" dirty="0"/>
              <a:t>8) Secure Multi Role Healthcare Ecosystem with Cloud Native Architecture</a:t>
            </a:r>
          </a:p>
          <a:p>
            <a:pPr marL="0" indent="0">
              <a:buNone/>
            </a:pPr>
            <a:endParaRPr lang="en-US" sz="1600" dirty="0"/>
          </a:p>
          <a:p>
            <a:pPr marL="0" indent="0">
              <a:buNone/>
            </a:pPr>
            <a:endParaRPr lang="en-US" sz="1600" dirty="0"/>
          </a:p>
          <a:p>
            <a:pPr marL="0" indent="0">
              <a:buNone/>
            </a:pPr>
            <a:endParaRPr lang="en-US" sz="2000" u="sng" dirty="0"/>
          </a:p>
        </p:txBody>
      </p:sp>
      <p:sp>
        <p:nvSpPr>
          <p:cNvPr id="4" name="Rectangle 3">
            <a:extLst>
              <a:ext uri="{FF2B5EF4-FFF2-40B4-BE49-F238E27FC236}">
                <a16:creationId xmlns:a16="http://schemas.microsoft.com/office/drawing/2014/main" id="{F30003AD-3CA3-5FBF-C60A-BEFB90B11F3A}"/>
              </a:ext>
            </a:extLst>
          </p:cNvPr>
          <p:cNvSpPr/>
          <p:nvPr/>
        </p:nvSpPr>
        <p:spPr>
          <a:xfrm>
            <a:off x="0" y="0"/>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0D883E54-80CD-6680-1094-D9183452D6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
        <p:nvSpPr>
          <p:cNvPr id="6" name="Title 1">
            <a:extLst>
              <a:ext uri="{FF2B5EF4-FFF2-40B4-BE49-F238E27FC236}">
                <a16:creationId xmlns:a16="http://schemas.microsoft.com/office/drawing/2014/main" id="{4D6BADAE-4BFE-15CB-4637-A9958931FBF2}"/>
              </a:ext>
            </a:extLst>
          </p:cNvPr>
          <p:cNvSpPr txBox="1">
            <a:spLocks/>
          </p:cNvSpPr>
          <p:nvPr/>
        </p:nvSpPr>
        <p:spPr>
          <a:xfrm rot="10800000" flipV="1">
            <a:off x="1235335" y="269168"/>
            <a:ext cx="10685731" cy="40366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2400" dirty="0" err="1">
                <a:latin typeface="Arial" panose="020B0604020202020204" pitchFamily="34" charset="0"/>
                <a:cs typeface="Arial" panose="020B0604020202020204" pitchFamily="34" charset="0"/>
              </a:rPr>
              <a:t>Zintellect</a:t>
            </a:r>
            <a:r>
              <a:rPr lang="en-IN" sz="2400" dirty="0">
                <a:latin typeface="Arial" panose="020B0604020202020204" pitchFamily="34" charset="0"/>
                <a:cs typeface="Arial" panose="020B0604020202020204" pitchFamily="34" charset="0"/>
              </a:rPr>
              <a:t> AI: Intelligent Healthcare Prior Authorization Automation Platform</a:t>
            </a:r>
            <a:endParaRPr lang="en-US" sz="2400" b="1" dirty="0">
              <a:latin typeface="Arial" panose="020B0604020202020204" pitchFamily="34" charset="0"/>
              <a:cs typeface="Arial" panose="020B0604020202020204" pitchFamily="34" charset="0"/>
            </a:endParaRPr>
          </a:p>
        </p:txBody>
      </p:sp>
      <p:grpSp>
        <p:nvGrpSpPr>
          <p:cNvPr id="12" name="object 15">
            <a:extLst>
              <a:ext uri="{FF2B5EF4-FFF2-40B4-BE49-F238E27FC236}">
                <a16:creationId xmlns:a16="http://schemas.microsoft.com/office/drawing/2014/main" id="{1D3C9D1F-C4CE-25C5-08AE-27CDC95D67C8}"/>
              </a:ext>
            </a:extLst>
          </p:cNvPr>
          <p:cNvGrpSpPr/>
          <p:nvPr/>
        </p:nvGrpSpPr>
        <p:grpSpPr>
          <a:xfrm>
            <a:off x="809235" y="157310"/>
            <a:ext cx="408940" cy="525780"/>
            <a:chOff x="429458" y="327830"/>
            <a:chExt cx="408940" cy="525780"/>
          </a:xfrm>
        </p:grpSpPr>
        <p:sp>
          <p:nvSpPr>
            <p:cNvPr id="13" name="object 16">
              <a:extLst>
                <a:ext uri="{FF2B5EF4-FFF2-40B4-BE49-F238E27FC236}">
                  <a16:creationId xmlns:a16="http://schemas.microsoft.com/office/drawing/2014/main" id="{086449D5-B9B2-5231-05D8-CC1B6991A1C2}"/>
                </a:ext>
              </a:extLst>
            </p:cNvPr>
            <p:cNvSpPr/>
            <p:nvPr/>
          </p:nvSpPr>
          <p:spPr>
            <a:xfrm>
              <a:off x="439374" y="337747"/>
              <a:ext cx="389255" cy="398145"/>
            </a:xfrm>
            <a:custGeom>
              <a:avLst/>
              <a:gdLst/>
              <a:ahLst/>
              <a:cxnLst/>
              <a:rect l="l" t="t" r="r" b="b"/>
              <a:pathLst>
                <a:path w="389255" h="398145">
                  <a:moveTo>
                    <a:pt x="388790" y="0"/>
                  </a:moveTo>
                  <a:lnTo>
                    <a:pt x="351924" y="36930"/>
                  </a:lnTo>
                </a:path>
                <a:path w="389255" h="398145">
                  <a:moveTo>
                    <a:pt x="381235" y="398000"/>
                  </a:moveTo>
                  <a:lnTo>
                    <a:pt x="344452" y="361128"/>
                  </a:lnTo>
                </a:path>
                <a:path w="389255" h="398145">
                  <a:moveTo>
                    <a:pt x="7529" y="0"/>
                  </a:moveTo>
                  <a:lnTo>
                    <a:pt x="44337" y="36930"/>
                  </a:lnTo>
                </a:path>
                <a:path w="389255" h="398145">
                  <a:moveTo>
                    <a:pt x="0" y="398000"/>
                  </a:moveTo>
                  <a:lnTo>
                    <a:pt x="36857" y="361127"/>
                  </a:lnTo>
                </a:path>
                <a:path w="389255" h="398145">
                  <a:moveTo>
                    <a:pt x="199840" y="51280"/>
                  </a:moveTo>
                  <a:lnTo>
                    <a:pt x="195877" y="51280"/>
                  </a:lnTo>
                  <a:lnTo>
                    <a:pt x="245445" y="59141"/>
                  </a:lnTo>
                  <a:lnTo>
                    <a:pt x="286275" y="80420"/>
                  </a:lnTo>
                  <a:lnTo>
                    <a:pt x="317059" y="111662"/>
                  </a:lnTo>
                  <a:lnTo>
                    <a:pt x="336488" y="149411"/>
                  </a:lnTo>
                  <a:lnTo>
                    <a:pt x="343255" y="190214"/>
                  </a:lnTo>
                  <a:lnTo>
                    <a:pt x="334651" y="237814"/>
                  </a:lnTo>
                  <a:lnTo>
                    <a:pt x="314134" y="276880"/>
                  </a:lnTo>
                  <a:lnTo>
                    <a:pt x="289646" y="312596"/>
                  </a:lnTo>
                  <a:lnTo>
                    <a:pt x="269129" y="350149"/>
                  </a:lnTo>
                  <a:lnTo>
                    <a:pt x="260525" y="394725"/>
                  </a:lnTo>
                  <a:lnTo>
                    <a:pt x="128256" y="394724"/>
                  </a:lnTo>
                  <a:lnTo>
                    <a:pt x="119678" y="350106"/>
                  </a:lnTo>
                  <a:lnTo>
                    <a:pt x="99222" y="312500"/>
                  </a:lnTo>
                  <a:lnTo>
                    <a:pt x="74807" y="276748"/>
                  </a:lnTo>
                  <a:lnTo>
                    <a:pt x="54352" y="237689"/>
                  </a:lnTo>
                  <a:lnTo>
                    <a:pt x="45774" y="190164"/>
                  </a:lnTo>
                  <a:lnTo>
                    <a:pt x="52522" y="149377"/>
                  </a:lnTo>
                  <a:lnTo>
                    <a:pt x="71913" y="111621"/>
                  </a:lnTo>
                  <a:lnTo>
                    <a:pt x="102668" y="80363"/>
                  </a:lnTo>
                  <a:lnTo>
                    <a:pt x="143507" y="59066"/>
                  </a:lnTo>
                  <a:lnTo>
                    <a:pt x="193152" y="51198"/>
                  </a:lnTo>
                  <a:lnTo>
                    <a:pt x="189189" y="51198"/>
                  </a:lnTo>
                </a:path>
              </a:pathLst>
            </a:custGeom>
            <a:ln w="19833">
              <a:solidFill>
                <a:srgbClr val="000047"/>
              </a:solidFill>
            </a:ln>
          </p:spPr>
          <p:txBody>
            <a:bodyPr wrap="square" lIns="0" tIns="0" rIns="0" bIns="0" rtlCol="0"/>
            <a:lstStyle/>
            <a:p>
              <a:endParaRPr/>
            </a:p>
          </p:txBody>
        </p:sp>
        <p:pic>
          <p:nvPicPr>
            <p:cNvPr id="14" name="object 17">
              <a:extLst>
                <a:ext uri="{FF2B5EF4-FFF2-40B4-BE49-F238E27FC236}">
                  <a16:creationId xmlns:a16="http://schemas.microsoft.com/office/drawing/2014/main" id="{52F36AAF-343F-3A52-248D-78EE1CE2C9FE}"/>
                </a:ext>
              </a:extLst>
            </p:cNvPr>
            <p:cNvPicPr/>
            <p:nvPr/>
          </p:nvPicPr>
          <p:blipFill>
            <a:blip r:embed="rId3" cstate="print"/>
            <a:stretch>
              <a:fillRect/>
            </a:stretch>
          </p:blipFill>
          <p:spPr>
            <a:xfrm>
              <a:off x="571990" y="760858"/>
              <a:ext cx="123550" cy="92453"/>
            </a:xfrm>
            <a:prstGeom prst="rect">
              <a:avLst/>
            </a:prstGeom>
          </p:spPr>
        </p:pic>
      </p:grpSp>
    </p:spTree>
    <p:extLst>
      <p:ext uri="{BB962C8B-B14F-4D97-AF65-F5344CB8AC3E}">
        <p14:creationId xmlns:p14="http://schemas.microsoft.com/office/powerpoint/2010/main" val="2692841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470CF-1248-F56F-9FF9-F3F0ABBD0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C1B9B-802E-4142-25E4-42D521C47A30}"/>
              </a:ext>
            </a:extLst>
          </p:cNvPr>
          <p:cNvSpPr>
            <a:spLocks noGrp="1"/>
          </p:cNvSpPr>
          <p:nvPr>
            <p:ph type="title"/>
          </p:nvPr>
        </p:nvSpPr>
        <p:spPr>
          <a:xfrm>
            <a:off x="837397" y="-210614"/>
            <a:ext cx="11059427" cy="1325563"/>
          </a:xfrm>
        </p:spPr>
        <p:txBody>
          <a:bodyPr>
            <a:normAutofit/>
          </a:bodyPr>
          <a:lstStyle/>
          <a:p>
            <a:pPr algn="ctr"/>
            <a:r>
              <a:rPr lang="en-US" sz="3000" b="1" dirty="0">
                <a:latin typeface="+mn-lt"/>
              </a:rPr>
              <a:t>Technology Stack </a:t>
            </a:r>
          </a:p>
        </p:txBody>
      </p:sp>
      <p:sp>
        <p:nvSpPr>
          <p:cNvPr id="3" name="Content Placeholder 2">
            <a:extLst>
              <a:ext uri="{FF2B5EF4-FFF2-40B4-BE49-F238E27FC236}">
                <a16:creationId xmlns:a16="http://schemas.microsoft.com/office/drawing/2014/main" id="{B527B22D-7EB4-9CB0-A5F0-E0C456473448}"/>
              </a:ext>
            </a:extLst>
          </p:cNvPr>
          <p:cNvSpPr>
            <a:spLocks noGrp="1"/>
          </p:cNvSpPr>
          <p:nvPr>
            <p:ph idx="1"/>
          </p:nvPr>
        </p:nvSpPr>
        <p:spPr>
          <a:xfrm>
            <a:off x="690701" y="767287"/>
            <a:ext cx="11059426" cy="5853641"/>
          </a:xfrm>
        </p:spPr>
        <p:txBody>
          <a:bodyPr numCol="2">
            <a:noAutofit/>
          </a:bodyPr>
          <a:lstStyle/>
          <a:p>
            <a:pPr marL="0" indent="0">
              <a:buNone/>
            </a:pPr>
            <a:r>
              <a:rPr lang="en-IN" sz="1500" b="1" dirty="0"/>
              <a:t>Frontend</a:t>
            </a:r>
          </a:p>
          <a:p>
            <a:pPr>
              <a:buFont typeface="Wingdings" panose="05000000000000000000" pitchFamily="2" charset="2"/>
              <a:buChar char="Ø"/>
            </a:pPr>
            <a:r>
              <a:rPr lang="en-IN" sz="1500" b="1" dirty="0"/>
              <a:t>React.js</a:t>
            </a:r>
            <a:r>
              <a:rPr lang="en-IN" sz="1500" dirty="0"/>
              <a:t> — Single Page Application for healthcare workflow management</a:t>
            </a:r>
          </a:p>
          <a:p>
            <a:pPr>
              <a:buFont typeface="Wingdings" panose="05000000000000000000" pitchFamily="2" charset="2"/>
              <a:buChar char="Ø"/>
            </a:pPr>
            <a:r>
              <a:rPr lang="en-IN" sz="1500" b="1" dirty="0"/>
              <a:t>Tailwind CSS</a:t>
            </a:r>
            <a:r>
              <a:rPr lang="en-IN" sz="1500" dirty="0"/>
              <a:t> — Responsive and modern user interface design</a:t>
            </a:r>
          </a:p>
          <a:p>
            <a:pPr>
              <a:buFont typeface="Wingdings" panose="05000000000000000000" pitchFamily="2" charset="2"/>
              <a:buChar char="Ø"/>
            </a:pPr>
            <a:r>
              <a:rPr lang="en-IN" sz="1500" b="1" dirty="0"/>
              <a:t>Axios</a:t>
            </a:r>
            <a:r>
              <a:rPr lang="en-IN" sz="1500" dirty="0"/>
              <a:t> — API communication between frontend and backend services</a:t>
            </a:r>
          </a:p>
          <a:p>
            <a:pPr>
              <a:buFont typeface="Wingdings" panose="05000000000000000000" pitchFamily="2" charset="2"/>
              <a:buChar char="Ø"/>
            </a:pPr>
            <a:r>
              <a:rPr lang="en-IN" sz="1500" b="1" dirty="0" err="1"/>
              <a:t>Lucide</a:t>
            </a:r>
            <a:r>
              <a:rPr lang="en-IN" sz="1500" b="1" dirty="0"/>
              <a:t> React Icons</a:t>
            </a:r>
            <a:r>
              <a:rPr lang="en-IN" sz="1500" dirty="0"/>
              <a:t> — Modern healthcare dashboard iconography</a:t>
            </a:r>
          </a:p>
          <a:p>
            <a:pPr>
              <a:buFont typeface="Wingdings" panose="05000000000000000000" pitchFamily="2" charset="2"/>
              <a:buChar char="Ø"/>
            </a:pPr>
            <a:r>
              <a:rPr lang="en-IN" sz="1500" b="1" dirty="0"/>
              <a:t>React Router DOM</a:t>
            </a:r>
            <a:r>
              <a:rPr lang="en-IN" sz="1500" dirty="0"/>
              <a:t> — Navigation and role based page routing</a:t>
            </a:r>
          </a:p>
          <a:p>
            <a:pPr marL="0" indent="0">
              <a:buNone/>
            </a:pPr>
            <a:r>
              <a:rPr lang="en-IN" sz="1500" b="1" dirty="0"/>
              <a:t>Backend &amp; APIs</a:t>
            </a:r>
          </a:p>
          <a:p>
            <a:pPr>
              <a:buFont typeface="Wingdings" panose="05000000000000000000" pitchFamily="2" charset="2"/>
              <a:buChar char="Ø"/>
            </a:pPr>
            <a:r>
              <a:rPr lang="en-IN" sz="1500" b="1" dirty="0"/>
              <a:t>Python </a:t>
            </a:r>
            <a:r>
              <a:rPr lang="en-IN" sz="1500" b="1" dirty="0" err="1"/>
              <a:t>FastAPI</a:t>
            </a:r>
            <a:r>
              <a:rPr lang="en-IN" sz="1500" dirty="0"/>
              <a:t> — High performance REST API framework</a:t>
            </a:r>
          </a:p>
          <a:p>
            <a:pPr>
              <a:buFont typeface="Wingdings" panose="05000000000000000000" pitchFamily="2" charset="2"/>
              <a:buChar char="Ø"/>
            </a:pPr>
            <a:r>
              <a:rPr lang="en-IN" sz="1500" b="1" dirty="0" err="1"/>
              <a:t>Uvicorn</a:t>
            </a:r>
            <a:r>
              <a:rPr lang="en-IN" sz="1500" dirty="0"/>
              <a:t> — ASGI server for </a:t>
            </a:r>
            <a:r>
              <a:rPr lang="en-IN" sz="1500" dirty="0" err="1"/>
              <a:t>FastAPI</a:t>
            </a:r>
            <a:r>
              <a:rPr lang="en-IN" sz="1500" dirty="0"/>
              <a:t> deployment</a:t>
            </a:r>
          </a:p>
          <a:p>
            <a:pPr>
              <a:buFont typeface="Wingdings" panose="05000000000000000000" pitchFamily="2" charset="2"/>
              <a:buChar char="Ø"/>
            </a:pPr>
            <a:r>
              <a:rPr lang="en-IN" sz="1500" b="1" dirty="0"/>
              <a:t>RESTful APIs</a:t>
            </a:r>
            <a:r>
              <a:rPr lang="en-IN" sz="1500" dirty="0"/>
              <a:t> — Secure communication between system modules</a:t>
            </a:r>
          </a:p>
          <a:p>
            <a:pPr>
              <a:buFont typeface="Wingdings" panose="05000000000000000000" pitchFamily="2" charset="2"/>
              <a:buChar char="Ø"/>
            </a:pPr>
            <a:r>
              <a:rPr lang="en-IN" sz="1500" b="1" dirty="0" err="1"/>
              <a:t>Pydantic</a:t>
            </a:r>
            <a:r>
              <a:rPr lang="en-IN" sz="1500" dirty="0"/>
              <a:t> — Request validation and data serialization</a:t>
            </a:r>
          </a:p>
          <a:p>
            <a:pPr marL="0" indent="0">
              <a:buNone/>
            </a:pPr>
            <a:r>
              <a:rPr lang="en-IN" sz="1500" b="1" dirty="0"/>
              <a:t>Databases</a:t>
            </a:r>
          </a:p>
          <a:p>
            <a:pPr>
              <a:buFont typeface="Wingdings" panose="05000000000000000000" pitchFamily="2" charset="2"/>
              <a:buChar char="Ø"/>
            </a:pPr>
            <a:r>
              <a:rPr lang="en-IN" sz="1500" b="1" dirty="0"/>
              <a:t>SQLite</a:t>
            </a:r>
            <a:r>
              <a:rPr lang="en-IN" sz="1500" dirty="0"/>
              <a:t> – Lightweight relational database</a:t>
            </a:r>
          </a:p>
          <a:p>
            <a:pPr marL="0" indent="0">
              <a:buNone/>
            </a:pPr>
            <a:r>
              <a:rPr lang="en-IN" sz="1500" b="1" dirty="0"/>
              <a:t>Deployment &amp; Infrastructure</a:t>
            </a:r>
          </a:p>
          <a:p>
            <a:pPr>
              <a:buFont typeface="Wingdings" panose="05000000000000000000" pitchFamily="2" charset="2"/>
              <a:buChar char="Ø"/>
            </a:pPr>
            <a:r>
              <a:rPr lang="en-IN" sz="1500" dirty="0"/>
              <a:t>Docker Containerization</a:t>
            </a:r>
          </a:p>
          <a:p>
            <a:pPr>
              <a:buFont typeface="Wingdings" panose="05000000000000000000" pitchFamily="2" charset="2"/>
              <a:buChar char="Ø"/>
            </a:pPr>
            <a:r>
              <a:rPr lang="en-IN" sz="1500" dirty="0"/>
              <a:t>Cloudflare Tunnel (Public Access)</a:t>
            </a:r>
          </a:p>
          <a:p>
            <a:pPr>
              <a:buFont typeface="Wingdings" panose="05000000000000000000" pitchFamily="2" charset="2"/>
              <a:buChar char="Ø"/>
            </a:pPr>
            <a:r>
              <a:rPr lang="en-IN" sz="1500" dirty="0"/>
              <a:t>Cross-Platform Deployment Support</a:t>
            </a:r>
          </a:p>
          <a:p>
            <a:pPr marL="0" indent="0">
              <a:buNone/>
            </a:pPr>
            <a:endParaRPr lang="en-IN" sz="1500" b="1" dirty="0"/>
          </a:p>
          <a:p>
            <a:pPr marL="0" indent="0">
              <a:buNone/>
            </a:pPr>
            <a:endParaRPr lang="en-IN" sz="1500" b="1" dirty="0"/>
          </a:p>
          <a:p>
            <a:pPr marL="0" indent="0">
              <a:buNone/>
            </a:pPr>
            <a:endParaRPr lang="en-IN" sz="1500" b="1" dirty="0"/>
          </a:p>
          <a:p>
            <a:pPr marL="0" indent="0">
              <a:buNone/>
            </a:pPr>
            <a:r>
              <a:rPr lang="en-IN" sz="1500" b="1" dirty="0"/>
              <a:t>Artificial Intelligence Layer</a:t>
            </a:r>
            <a:endParaRPr lang="en-US" sz="1500" b="1" dirty="0"/>
          </a:p>
          <a:p>
            <a:pPr>
              <a:buFont typeface="Wingdings" panose="05000000000000000000" pitchFamily="2" charset="2"/>
              <a:buChar char="Ø"/>
            </a:pPr>
            <a:r>
              <a:rPr lang="en-IN" sz="1500" b="1" dirty="0"/>
              <a:t>HMH-RAGES</a:t>
            </a:r>
            <a:r>
              <a:rPr lang="en-IN" sz="1500" dirty="0"/>
              <a:t> — Hybrid Multimodal Hierarchical RAG Expert System</a:t>
            </a:r>
          </a:p>
          <a:p>
            <a:pPr>
              <a:buFont typeface="Wingdings" panose="05000000000000000000" pitchFamily="2" charset="2"/>
              <a:buChar char="Ø"/>
            </a:pPr>
            <a:r>
              <a:rPr lang="en-IN" sz="1500" b="1" dirty="0" err="1"/>
              <a:t>PaddleOCR</a:t>
            </a:r>
            <a:r>
              <a:rPr lang="en-IN" sz="1500" b="1" dirty="0"/>
              <a:t>-VL / LayoutLMv3</a:t>
            </a:r>
            <a:r>
              <a:rPr lang="en-IN" sz="1500" dirty="0"/>
              <a:t> — Multimodal OCR for scanned and handwritten documents</a:t>
            </a:r>
          </a:p>
          <a:p>
            <a:pPr>
              <a:buFont typeface="Wingdings" panose="05000000000000000000" pitchFamily="2" charset="2"/>
              <a:buChar char="Ø"/>
            </a:pPr>
            <a:r>
              <a:rPr lang="en-IN" sz="1500" b="1" dirty="0"/>
              <a:t>BGE-Large / E5-Large</a:t>
            </a:r>
            <a:r>
              <a:rPr lang="en-IN" sz="1500" dirty="0"/>
              <a:t> — Vector embedding generation</a:t>
            </a:r>
          </a:p>
          <a:p>
            <a:pPr>
              <a:buFont typeface="Wingdings" panose="05000000000000000000" pitchFamily="2" charset="2"/>
              <a:buChar char="Ø"/>
            </a:pPr>
            <a:r>
              <a:rPr lang="en-IN" sz="1500" b="1" dirty="0"/>
              <a:t>FAISS / </a:t>
            </a:r>
            <a:r>
              <a:rPr lang="en-IN" sz="1500" b="1" dirty="0" err="1"/>
              <a:t>ChromaDB</a:t>
            </a:r>
            <a:r>
              <a:rPr lang="en-IN" sz="1500" dirty="0"/>
              <a:t> — Vector database for policy storage and retrieval</a:t>
            </a:r>
          </a:p>
          <a:p>
            <a:pPr>
              <a:buFont typeface="Wingdings" panose="05000000000000000000" pitchFamily="2" charset="2"/>
              <a:buChar char="Ø"/>
            </a:pPr>
            <a:r>
              <a:rPr lang="en-IN" sz="1500" b="1" dirty="0"/>
              <a:t>Medical NER</a:t>
            </a:r>
            <a:r>
              <a:rPr lang="en-IN" sz="1500" dirty="0"/>
              <a:t> — Symptoms, diagnoses, procedures and CPT code extraction</a:t>
            </a:r>
          </a:p>
          <a:p>
            <a:pPr>
              <a:buFont typeface="Wingdings" panose="05000000000000000000" pitchFamily="2" charset="2"/>
              <a:buChar char="Ø"/>
            </a:pPr>
            <a:r>
              <a:rPr lang="en-IN" sz="1500" b="1" dirty="0" err="1"/>
              <a:t>Ollama</a:t>
            </a:r>
            <a:r>
              <a:rPr lang="en-IN" sz="1500" b="1" dirty="0"/>
              <a:t> Qwen 2.5 (1.5B)</a:t>
            </a:r>
            <a:r>
              <a:rPr lang="en-IN" sz="1500" dirty="0"/>
              <a:t> — Large Language Model for clinical reasoning</a:t>
            </a:r>
          </a:p>
          <a:p>
            <a:pPr>
              <a:buFont typeface="Wingdings" panose="05000000000000000000" pitchFamily="2" charset="2"/>
              <a:buChar char="Ø"/>
            </a:pPr>
            <a:r>
              <a:rPr lang="en-IN" sz="1500" b="1" dirty="0"/>
              <a:t>Weighted Risk Scoring Engine</a:t>
            </a:r>
            <a:r>
              <a:rPr lang="en-IN" sz="1500" dirty="0"/>
              <a:t> — AI confidence score generation</a:t>
            </a:r>
          </a:p>
          <a:p>
            <a:pPr>
              <a:buFont typeface="Wingdings" panose="05000000000000000000" pitchFamily="2" charset="2"/>
              <a:buChar char="Ø"/>
            </a:pPr>
            <a:r>
              <a:rPr lang="en-IN" sz="1500" b="1" dirty="0"/>
              <a:t>Explainable AI (XAI)</a:t>
            </a:r>
            <a:r>
              <a:rPr lang="en-IN" sz="1500" dirty="0"/>
              <a:t> — Transparent decision reasoning trace</a:t>
            </a:r>
          </a:p>
          <a:p>
            <a:pPr marL="0" indent="0">
              <a:buNone/>
            </a:pPr>
            <a:r>
              <a:rPr lang="en-IN" sz="1500" b="1" dirty="0"/>
              <a:t>Security &amp; Authentication</a:t>
            </a:r>
            <a:endParaRPr lang="en-US" sz="1500" b="1" dirty="0"/>
          </a:p>
          <a:p>
            <a:pPr>
              <a:buFont typeface="Wingdings" panose="05000000000000000000" pitchFamily="2" charset="2"/>
              <a:buChar char="Ø"/>
            </a:pPr>
            <a:r>
              <a:rPr lang="en-IN" sz="1500" dirty="0"/>
              <a:t>JWT (JSON Web Token) Authentication</a:t>
            </a:r>
            <a:endParaRPr lang="en-US" sz="1500" dirty="0"/>
          </a:p>
          <a:p>
            <a:pPr>
              <a:buFont typeface="Wingdings" panose="05000000000000000000" pitchFamily="2" charset="2"/>
              <a:buChar char="Ø"/>
            </a:pPr>
            <a:r>
              <a:rPr lang="en-IN" sz="1500" dirty="0"/>
              <a:t>Password Hashing using </a:t>
            </a:r>
            <a:r>
              <a:rPr lang="en-IN" sz="1500" dirty="0" err="1"/>
              <a:t>Bcrypt</a:t>
            </a:r>
            <a:endParaRPr lang="en-IN" sz="1500" dirty="0"/>
          </a:p>
          <a:p>
            <a:pPr>
              <a:buFont typeface="Wingdings" panose="05000000000000000000" pitchFamily="2" charset="2"/>
              <a:buChar char="Ø"/>
            </a:pPr>
            <a:r>
              <a:rPr lang="en-IN" sz="1500" dirty="0"/>
              <a:t>Role-Based Access Control (Doctor / Provider / Patient)</a:t>
            </a:r>
          </a:p>
          <a:p>
            <a:pPr marL="0" indent="0">
              <a:buNone/>
            </a:pPr>
            <a:r>
              <a:rPr lang="en-IN" sz="1500" b="1" dirty="0"/>
              <a:t>Development Tools</a:t>
            </a:r>
          </a:p>
          <a:p>
            <a:pPr>
              <a:buFont typeface="Wingdings" panose="05000000000000000000" pitchFamily="2" charset="2"/>
              <a:buChar char="Ø"/>
            </a:pPr>
            <a:r>
              <a:rPr lang="en-IN" sz="1500" dirty="0"/>
              <a:t>Swagger UI (API Testing) and </a:t>
            </a:r>
            <a:r>
              <a:rPr lang="en-IN" sz="1500" dirty="0" err="1"/>
              <a:t>npm</a:t>
            </a:r>
            <a:r>
              <a:rPr lang="en-IN" sz="1500" dirty="0"/>
              <a:t> / Vite Build System</a:t>
            </a:r>
          </a:p>
          <a:p>
            <a:pPr marL="0" indent="0">
              <a:buNone/>
            </a:pPr>
            <a:endParaRPr lang="en-IN" sz="1500" dirty="0"/>
          </a:p>
          <a:p>
            <a:pPr marL="0" indent="0">
              <a:buNone/>
            </a:pPr>
            <a:endParaRPr lang="en-IN" sz="1500" dirty="0"/>
          </a:p>
          <a:p>
            <a:pPr marL="0" indent="0">
              <a:buNone/>
            </a:pPr>
            <a:endParaRPr lang="en-IN" sz="1500" dirty="0"/>
          </a:p>
          <a:p>
            <a:pPr marL="0" indent="0">
              <a:buNone/>
            </a:pPr>
            <a:endParaRPr lang="en-US" sz="1500" dirty="0"/>
          </a:p>
        </p:txBody>
      </p:sp>
      <p:sp>
        <p:nvSpPr>
          <p:cNvPr id="4" name="Rectangle 3">
            <a:extLst>
              <a:ext uri="{FF2B5EF4-FFF2-40B4-BE49-F238E27FC236}">
                <a16:creationId xmlns:a16="http://schemas.microsoft.com/office/drawing/2014/main" id="{584F57F2-D8A7-A417-0845-E1934EE68C30}"/>
              </a:ext>
            </a:extLst>
          </p:cNvPr>
          <p:cNvSpPr/>
          <p:nvPr/>
        </p:nvSpPr>
        <p:spPr>
          <a:xfrm>
            <a:off x="0" y="0"/>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4432691-F943-8283-C47D-40897F2A42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pic>
        <p:nvPicPr>
          <p:cNvPr id="6" name="Picture 5">
            <a:extLst>
              <a:ext uri="{FF2B5EF4-FFF2-40B4-BE49-F238E27FC236}">
                <a16:creationId xmlns:a16="http://schemas.microsoft.com/office/drawing/2014/main" id="{3E82172D-7ED3-B5C7-B74E-CDA3B260AA0C}"/>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foregroundMark x1="63000" y1="32184" x2="63000" y2="32184"/>
                        <a14:foregroundMark x1="66000" y1="78161" x2="66000" y2="78161"/>
                      </a14:backgroundRemoval>
                    </a14:imgEffect>
                  </a14:imgLayer>
                </a14:imgProps>
              </a:ext>
              <a:ext uri="{28A0092B-C50C-407E-A947-70E740481C1C}">
                <a14:useLocalDpi xmlns:a14="http://schemas.microsoft.com/office/drawing/2010/main" val="0"/>
              </a:ext>
            </a:extLst>
          </a:blip>
          <a:stretch>
            <a:fillRect/>
          </a:stretch>
        </p:blipFill>
        <p:spPr>
          <a:xfrm>
            <a:off x="4186635" y="47620"/>
            <a:ext cx="952633" cy="828791"/>
          </a:xfrm>
          <a:prstGeom prst="rect">
            <a:avLst/>
          </a:prstGeom>
        </p:spPr>
      </p:pic>
    </p:spTree>
    <p:extLst>
      <p:ext uri="{BB962C8B-B14F-4D97-AF65-F5344CB8AC3E}">
        <p14:creationId xmlns:p14="http://schemas.microsoft.com/office/powerpoint/2010/main" val="42136569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9783BC-9988-5B9F-E0ED-A49FA0DC67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029118F-F649-3036-152B-61BC140A3A61}"/>
              </a:ext>
            </a:extLst>
          </p:cNvPr>
          <p:cNvSpPr>
            <a:spLocks noGrp="1"/>
          </p:cNvSpPr>
          <p:nvPr>
            <p:ph idx="1"/>
          </p:nvPr>
        </p:nvSpPr>
        <p:spPr>
          <a:xfrm>
            <a:off x="951767" y="829734"/>
            <a:ext cx="11059426" cy="5437928"/>
          </a:xfrm>
        </p:spPr>
        <p:txBody>
          <a:bodyPr numCol="2">
            <a:noAutofit/>
          </a:bodyPr>
          <a:lstStyle/>
          <a:p>
            <a:pPr marL="0" indent="0">
              <a:buNone/>
            </a:pPr>
            <a:r>
              <a:rPr lang="en-US" sz="1800" b="1" u="sng" dirty="0"/>
              <a:t>Implementation Plan:</a:t>
            </a:r>
          </a:p>
          <a:p>
            <a:pPr>
              <a:lnSpc>
                <a:spcPct val="120000"/>
              </a:lnSpc>
              <a:buFont typeface="Wingdings" panose="05000000000000000000" pitchFamily="2" charset="2"/>
              <a:buChar char="v"/>
            </a:pPr>
            <a:r>
              <a:rPr lang="en-IN" sz="1600" b="1" dirty="0"/>
              <a:t>Patient Registration</a:t>
            </a:r>
            <a:br>
              <a:rPr lang="en-IN" sz="1600" dirty="0"/>
            </a:br>
            <a:r>
              <a:rPr lang="en-IN" sz="1600" dirty="0"/>
              <a:t>Patient registers with personal and insurance information</a:t>
            </a:r>
          </a:p>
          <a:p>
            <a:pPr>
              <a:lnSpc>
                <a:spcPct val="120000"/>
              </a:lnSpc>
              <a:buFont typeface="Wingdings" panose="05000000000000000000" pitchFamily="2" charset="2"/>
              <a:buChar char="v"/>
            </a:pPr>
            <a:r>
              <a:rPr lang="en-IN" sz="1600" b="1" dirty="0"/>
              <a:t>Insurance Verification</a:t>
            </a:r>
            <a:br>
              <a:rPr lang="en-IN" sz="1600" dirty="0"/>
            </a:br>
            <a:r>
              <a:rPr lang="en-IN" sz="1600" dirty="0"/>
              <a:t>System validates insurance membership and eligibility</a:t>
            </a:r>
          </a:p>
          <a:p>
            <a:pPr>
              <a:lnSpc>
                <a:spcPct val="120000"/>
              </a:lnSpc>
              <a:buFont typeface="Wingdings" panose="05000000000000000000" pitchFamily="2" charset="2"/>
              <a:buChar char="v"/>
            </a:pPr>
            <a:r>
              <a:rPr lang="en-IN" sz="1600" b="1" dirty="0"/>
              <a:t>Secure Data Fetch </a:t>
            </a:r>
            <a:br>
              <a:rPr lang="en-IN" sz="1600" dirty="0"/>
            </a:br>
            <a:r>
              <a:rPr lang="en-IN" sz="1600" dirty="0"/>
              <a:t>Authorization Request Creation Doctor submits treatment/procedure authorization request</a:t>
            </a:r>
          </a:p>
          <a:p>
            <a:pPr>
              <a:lnSpc>
                <a:spcPct val="120000"/>
              </a:lnSpc>
              <a:buFont typeface="Wingdings" panose="05000000000000000000" pitchFamily="2" charset="2"/>
              <a:buChar char="v"/>
            </a:pPr>
            <a:r>
              <a:rPr lang="en-IN" sz="1600" b="1" dirty="0"/>
              <a:t>Clinical Document Upload</a:t>
            </a:r>
            <a:br>
              <a:rPr lang="en-IN" sz="1600" dirty="0"/>
            </a:br>
            <a:r>
              <a:rPr lang="en-IN" sz="1600" dirty="0"/>
              <a:t>Medical reports, prescriptions, and supporting evidence uploaded</a:t>
            </a:r>
          </a:p>
          <a:p>
            <a:pPr>
              <a:lnSpc>
                <a:spcPct val="120000"/>
              </a:lnSpc>
              <a:buFont typeface="Wingdings" panose="05000000000000000000" pitchFamily="2" charset="2"/>
              <a:buChar char="v"/>
            </a:pPr>
            <a:r>
              <a:rPr lang="en-IN" sz="1600" b="1" dirty="0"/>
              <a:t>AI Clinical Analysis</a:t>
            </a:r>
            <a:br>
              <a:rPr lang="en-IN" sz="1600" dirty="0"/>
            </a:br>
            <a:r>
              <a:rPr lang="en-IN" sz="1600" dirty="0"/>
              <a:t>Qwen HMH-RAGES pipeline processes documents via Multimodal OCR, Hierarchical RAG retrieval and Medical NER extraction</a:t>
            </a:r>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b="1" dirty="0"/>
          </a:p>
          <a:p>
            <a:pPr>
              <a:lnSpc>
                <a:spcPct val="120000"/>
              </a:lnSpc>
              <a:buFont typeface="Wingdings" panose="05000000000000000000" pitchFamily="2" charset="2"/>
              <a:buChar char="v"/>
            </a:pPr>
            <a:r>
              <a:rPr lang="en-IN" sz="1600" b="1" dirty="0"/>
              <a:t>Policy Rule Matching</a:t>
            </a:r>
            <a:br>
              <a:rPr lang="en-IN" sz="1600" dirty="0"/>
            </a:br>
            <a:r>
              <a:rPr lang="en-IN" sz="1600" dirty="0"/>
              <a:t>RAG based semantic search dynamically retrieves relevant insurance policy clauses and validates via rule engine</a:t>
            </a:r>
          </a:p>
          <a:p>
            <a:pPr>
              <a:lnSpc>
                <a:spcPct val="120000"/>
              </a:lnSpc>
              <a:buFont typeface="Wingdings" panose="05000000000000000000" pitchFamily="2" charset="2"/>
              <a:buChar char="v"/>
            </a:pPr>
            <a:r>
              <a:rPr lang="en-IN" sz="1600" b="1" dirty="0"/>
              <a:t>Authorization Decision Engine</a:t>
            </a:r>
            <a:br>
              <a:rPr lang="en-IN" sz="1600" dirty="0"/>
            </a:br>
            <a:r>
              <a:rPr lang="en-IN" sz="1600" dirty="0"/>
              <a:t>Weighted risk scoring generates approval, rejection or manual review with confidence score</a:t>
            </a:r>
          </a:p>
          <a:p>
            <a:pPr>
              <a:lnSpc>
                <a:spcPct val="120000"/>
              </a:lnSpc>
              <a:buFont typeface="Wingdings" panose="05000000000000000000" pitchFamily="2" charset="2"/>
              <a:buChar char="v"/>
            </a:pPr>
            <a:r>
              <a:rPr lang="en-IN" sz="1600" b="1" dirty="0"/>
              <a:t>Provider Validation</a:t>
            </a:r>
            <a:br>
              <a:rPr lang="en-IN" sz="1600" dirty="0"/>
            </a:br>
            <a:r>
              <a:rPr lang="en-IN" sz="1600" dirty="0"/>
              <a:t>Insurance provider reviews and confirms final authorization decision</a:t>
            </a:r>
          </a:p>
          <a:p>
            <a:pPr>
              <a:lnSpc>
                <a:spcPct val="120000"/>
              </a:lnSpc>
              <a:buFont typeface="Wingdings" panose="05000000000000000000" pitchFamily="2" charset="2"/>
              <a:buChar char="v"/>
            </a:pPr>
            <a:r>
              <a:rPr lang="en-IN" sz="1600" b="1" dirty="0"/>
              <a:t>Request Storage &amp; Tracking</a:t>
            </a:r>
            <a:br>
              <a:rPr lang="en-IN" sz="1600" dirty="0"/>
            </a:br>
            <a:r>
              <a:rPr lang="en-IN" sz="1600" dirty="0"/>
              <a:t>Requests and decisions stored in SQLite database</a:t>
            </a:r>
          </a:p>
          <a:p>
            <a:pPr>
              <a:lnSpc>
                <a:spcPct val="120000"/>
              </a:lnSpc>
              <a:buFont typeface="Wingdings" panose="05000000000000000000" pitchFamily="2" charset="2"/>
              <a:buChar char="v"/>
            </a:pPr>
            <a:r>
              <a:rPr lang="en-IN" sz="1600" b="1" dirty="0"/>
              <a:t>Authorization Outcome</a:t>
            </a:r>
            <a:br>
              <a:rPr lang="en-IN" sz="1600" dirty="0"/>
            </a:br>
            <a:r>
              <a:rPr lang="en-IN" sz="1600" dirty="0"/>
              <a:t>Final status displayed in dashboard and request history</a:t>
            </a:r>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dirty="0"/>
          </a:p>
          <a:p>
            <a:pPr marL="0" indent="0">
              <a:buNone/>
            </a:pPr>
            <a:endParaRPr lang="en-US" sz="1600" dirty="0"/>
          </a:p>
        </p:txBody>
      </p:sp>
      <p:sp>
        <p:nvSpPr>
          <p:cNvPr id="4" name="Rectangle 3">
            <a:extLst>
              <a:ext uri="{FF2B5EF4-FFF2-40B4-BE49-F238E27FC236}">
                <a16:creationId xmlns:a16="http://schemas.microsoft.com/office/drawing/2014/main" id="{A20D3457-EA1A-13A5-3185-6B373901FECD}"/>
              </a:ext>
            </a:extLst>
          </p:cNvPr>
          <p:cNvSpPr/>
          <p:nvPr/>
        </p:nvSpPr>
        <p:spPr>
          <a:xfrm>
            <a:off x="0" y="8467"/>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73370AE-1551-A122-A687-DDD621A0CC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
        <p:nvSpPr>
          <p:cNvPr id="6" name="Title 1">
            <a:extLst>
              <a:ext uri="{FF2B5EF4-FFF2-40B4-BE49-F238E27FC236}">
                <a16:creationId xmlns:a16="http://schemas.microsoft.com/office/drawing/2014/main" id="{4664F2D5-1CDB-56F5-0B63-5656E800D4CB}"/>
              </a:ext>
            </a:extLst>
          </p:cNvPr>
          <p:cNvSpPr txBox="1">
            <a:spLocks/>
          </p:cNvSpPr>
          <p:nvPr/>
        </p:nvSpPr>
        <p:spPr>
          <a:xfrm rot="10800000" flipV="1">
            <a:off x="1235334" y="269168"/>
            <a:ext cx="10685732" cy="403669"/>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err="1">
                <a:latin typeface="Arial" panose="020B0604020202020204" pitchFamily="34" charset="0"/>
                <a:cs typeface="Arial" panose="020B0604020202020204" pitchFamily="34" charset="0"/>
              </a:rPr>
              <a:t>Zintellect</a:t>
            </a:r>
            <a:r>
              <a:rPr lang="en-IN" dirty="0">
                <a:latin typeface="Arial" panose="020B0604020202020204" pitchFamily="34" charset="0"/>
                <a:cs typeface="Arial" panose="020B0604020202020204" pitchFamily="34" charset="0"/>
              </a:rPr>
              <a:t> AI: Intelligent Healthcare Prior Authorization Automation Platform</a:t>
            </a:r>
            <a:endParaRPr lang="en-US" b="1" dirty="0">
              <a:latin typeface="Arial" panose="020B0604020202020204" pitchFamily="34" charset="0"/>
              <a:cs typeface="Arial" panose="020B0604020202020204" pitchFamily="34" charset="0"/>
            </a:endParaRPr>
          </a:p>
        </p:txBody>
      </p:sp>
      <p:grpSp>
        <p:nvGrpSpPr>
          <p:cNvPr id="7" name="object 15">
            <a:extLst>
              <a:ext uri="{FF2B5EF4-FFF2-40B4-BE49-F238E27FC236}">
                <a16:creationId xmlns:a16="http://schemas.microsoft.com/office/drawing/2014/main" id="{C44C162F-D97F-B494-8D57-3B2E17520A95}"/>
              </a:ext>
            </a:extLst>
          </p:cNvPr>
          <p:cNvGrpSpPr/>
          <p:nvPr/>
        </p:nvGrpSpPr>
        <p:grpSpPr>
          <a:xfrm>
            <a:off x="809235" y="157310"/>
            <a:ext cx="408940" cy="525780"/>
            <a:chOff x="429458" y="327830"/>
            <a:chExt cx="408940" cy="525780"/>
          </a:xfrm>
        </p:grpSpPr>
        <p:sp>
          <p:nvSpPr>
            <p:cNvPr id="8" name="object 16">
              <a:extLst>
                <a:ext uri="{FF2B5EF4-FFF2-40B4-BE49-F238E27FC236}">
                  <a16:creationId xmlns:a16="http://schemas.microsoft.com/office/drawing/2014/main" id="{EDBECF5C-AD09-169F-0D7B-8FF6DB1FAEC7}"/>
                </a:ext>
              </a:extLst>
            </p:cNvPr>
            <p:cNvSpPr/>
            <p:nvPr/>
          </p:nvSpPr>
          <p:spPr>
            <a:xfrm>
              <a:off x="439374" y="337747"/>
              <a:ext cx="389255" cy="398145"/>
            </a:xfrm>
            <a:custGeom>
              <a:avLst/>
              <a:gdLst/>
              <a:ahLst/>
              <a:cxnLst/>
              <a:rect l="l" t="t" r="r" b="b"/>
              <a:pathLst>
                <a:path w="389255" h="398145">
                  <a:moveTo>
                    <a:pt x="388790" y="0"/>
                  </a:moveTo>
                  <a:lnTo>
                    <a:pt x="351924" y="36930"/>
                  </a:lnTo>
                </a:path>
                <a:path w="389255" h="398145">
                  <a:moveTo>
                    <a:pt x="381235" y="398000"/>
                  </a:moveTo>
                  <a:lnTo>
                    <a:pt x="344452" y="361128"/>
                  </a:lnTo>
                </a:path>
                <a:path w="389255" h="398145">
                  <a:moveTo>
                    <a:pt x="7529" y="0"/>
                  </a:moveTo>
                  <a:lnTo>
                    <a:pt x="44337" y="36930"/>
                  </a:lnTo>
                </a:path>
                <a:path w="389255" h="398145">
                  <a:moveTo>
                    <a:pt x="0" y="398000"/>
                  </a:moveTo>
                  <a:lnTo>
                    <a:pt x="36857" y="361127"/>
                  </a:lnTo>
                </a:path>
                <a:path w="389255" h="398145">
                  <a:moveTo>
                    <a:pt x="199840" y="51280"/>
                  </a:moveTo>
                  <a:lnTo>
                    <a:pt x="195877" y="51280"/>
                  </a:lnTo>
                  <a:lnTo>
                    <a:pt x="245445" y="59141"/>
                  </a:lnTo>
                  <a:lnTo>
                    <a:pt x="286275" y="80420"/>
                  </a:lnTo>
                  <a:lnTo>
                    <a:pt x="317059" y="111662"/>
                  </a:lnTo>
                  <a:lnTo>
                    <a:pt x="336488" y="149411"/>
                  </a:lnTo>
                  <a:lnTo>
                    <a:pt x="343255" y="190214"/>
                  </a:lnTo>
                  <a:lnTo>
                    <a:pt x="334651" y="237814"/>
                  </a:lnTo>
                  <a:lnTo>
                    <a:pt x="314134" y="276880"/>
                  </a:lnTo>
                  <a:lnTo>
                    <a:pt x="289646" y="312596"/>
                  </a:lnTo>
                  <a:lnTo>
                    <a:pt x="269129" y="350149"/>
                  </a:lnTo>
                  <a:lnTo>
                    <a:pt x="260525" y="394725"/>
                  </a:lnTo>
                  <a:lnTo>
                    <a:pt x="128256" y="394724"/>
                  </a:lnTo>
                  <a:lnTo>
                    <a:pt x="119678" y="350106"/>
                  </a:lnTo>
                  <a:lnTo>
                    <a:pt x="99222" y="312500"/>
                  </a:lnTo>
                  <a:lnTo>
                    <a:pt x="74807" y="276748"/>
                  </a:lnTo>
                  <a:lnTo>
                    <a:pt x="54352" y="237689"/>
                  </a:lnTo>
                  <a:lnTo>
                    <a:pt x="45774" y="190164"/>
                  </a:lnTo>
                  <a:lnTo>
                    <a:pt x="52522" y="149377"/>
                  </a:lnTo>
                  <a:lnTo>
                    <a:pt x="71913" y="111621"/>
                  </a:lnTo>
                  <a:lnTo>
                    <a:pt x="102668" y="80363"/>
                  </a:lnTo>
                  <a:lnTo>
                    <a:pt x="143507" y="59066"/>
                  </a:lnTo>
                  <a:lnTo>
                    <a:pt x="193152" y="51198"/>
                  </a:lnTo>
                  <a:lnTo>
                    <a:pt x="189189" y="51198"/>
                  </a:lnTo>
                </a:path>
              </a:pathLst>
            </a:custGeom>
            <a:ln w="19833">
              <a:solidFill>
                <a:srgbClr val="000047"/>
              </a:solidFill>
            </a:ln>
          </p:spPr>
          <p:txBody>
            <a:bodyPr wrap="square" lIns="0" tIns="0" rIns="0" bIns="0" rtlCol="0"/>
            <a:lstStyle/>
            <a:p>
              <a:endParaRPr/>
            </a:p>
          </p:txBody>
        </p:sp>
        <p:pic>
          <p:nvPicPr>
            <p:cNvPr id="9" name="object 17">
              <a:extLst>
                <a:ext uri="{FF2B5EF4-FFF2-40B4-BE49-F238E27FC236}">
                  <a16:creationId xmlns:a16="http://schemas.microsoft.com/office/drawing/2014/main" id="{4F393556-A1F5-39C4-2965-FABC3035CA1E}"/>
                </a:ext>
              </a:extLst>
            </p:cNvPr>
            <p:cNvPicPr/>
            <p:nvPr/>
          </p:nvPicPr>
          <p:blipFill>
            <a:blip r:embed="rId3" cstate="print"/>
            <a:stretch>
              <a:fillRect/>
            </a:stretch>
          </p:blipFill>
          <p:spPr>
            <a:xfrm>
              <a:off x="571990" y="760858"/>
              <a:ext cx="123550" cy="92453"/>
            </a:xfrm>
            <a:prstGeom prst="rect">
              <a:avLst/>
            </a:prstGeom>
          </p:spPr>
        </p:pic>
      </p:grpSp>
    </p:spTree>
    <p:extLst>
      <p:ext uri="{BB962C8B-B14F-4D97-AF65-F5344CB8AC3E}">
        <p14:creationId xmlns:p14="http://schemas.microsoft.com/office/powerpoint/2010/main" val="3183026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4E55F-DB59-857F-2DB6-2A1F8B3AA2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D2D8BB7-5EC4-8C08-879A-6692CD7778F5}"/>
              </a:ext>
            </a:extLst>
          </p:cNvPr>
          <p:cNvSpPr/>
          <p:nvPr/>
        </p:nvSpPr>
        <p:spPr>
          <a:xfrm>
            <a:off x="0" y="8467"/>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3DA384E-C384-E27A-515F-907A7B460D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
        <p:nvSpPr>
          <p:cNvPr id="6" name="Title 1">
            <a:extLst>
              <a:ext uri="{FF2B5EF4-FFF2-40B4-BE49-F238E27FC236}">
                <a16:creationId xmlns:a16="http://schemas.microsoft.com/office/drawing/2014/main" id="{31AD537B-6368-3031-40B4-F05B0AA3D385}"/>
              </a:ext>
            </a:extLst>
          </p:cNvPr>
          <p:cNvSpPr txBox="1">
            <a:spLocks/>
          </p:cNvSpPr>
          <p:nvPr/>
        </p:nvSpPr>
        <p:spPr>
          <a:xfrm rot="10800000" flipV="1">
            <a:off x="1235334" y="269168"/>
            <a:ext cx="10685732" cy="403669"/>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err="1">
                <a:latin typeface="Arial" panose="020B0604020202020204" pitchFamily="34" charset="0"/>
                <a:cs typeface="Arial" panose="020B0604020202020204" pitchFamily="34" charset="0"/>
              </a:rPr>
              <a:t>Zintellect</a:t>
            </a:r>
            <a:r>
              <a:rPr lang="en-IN" dirty="0">
                <a:latin typeface="Arial" panose="020B0604020202020204" pitchFamily="34" charset="0"/>
                <a:cs typeface="Arial" panose="020B0604020202020204" pitchFamily="34" charset="0"/>
              </a:rPr>
              <a:t> AI: Intelligent Healthcare Prior Authorization Automation Platform</a:t>
            </a:r>
            <a:endParaRPr lang="en-US" b="1" dirty="0">
              <a:latin typeface="Arial" panose="020B0604020202020204" pitchFamily="34" charset="0"/>
              <a:cs typeface="Arial" panose="020B0604020202020204" pitchFamily="34" charset="0"/>
            </a:endParaRPr>
          </a:p>
        </p:txBody>
      </p:sp>
      <p:grpSp>
        <p:nvGrpSpPr>
          <p:cNvPr id="7" name="object 15">
            <a:extLst>
              <a:ext uri="{FF2B5EF4-FFF2-40B4-BE49-F238E27FC236}">
                <a16:creationId xmlns:a16="http://schemas.microsoft.com/office/drawing/2014/main" id="{05906BDF-525E-FCAB-5349-F216C0A1038B}"/>
              </a:ext>
            </a:extLst>
          </p:cNvPr>
          <p:cNvGrpSpPr/>
          <p:nvPr/>
        </p:nvGrpSpPr>
        <p:grpSpPr>
          <a:xfrm>
            <a:off x="809235" y="157310"/>
            <a:ext cx="408940" cy="525780"/>
            <a:chOff x="429458" y="327830"/>
            <a:chExt cx="408940" cy="525780"/>
          </a:xfrm>
        </p:grpSpPr>
        <p:sp>
          <p:nvSpPr>
            <p:cNvPr id="8" name="object 16">
              <a:extLst>
                <a:ext uri="{FF2B5EF4-FFF2-40B4-BE49-F238E27FC236}">
                  <a16:creationId xmlns:a16="http://schemas.microsoft.com/office/drawing/2014/main" id="{4168CBF2-D95B-11BA-24D2-580AFDE3E94B}"/>
                </a:ext>
              </a:extLst>
            </p:cNvPr>
            <p:cNvSpPr/>
            <p:nvPr/>
          </p:nvSpPr>
          <p:spPr>
            <a:xfrm>
              <a:off x="439374" y="337747"/>
              <a:ext cx="389255" cy="398145"/>
            </a:xfrm>
            <a:custGeom>
              <a:avLst/>
              <a:gdLst/>
              <a:ahLst/>
              <a:cxnLst/>
              <a:rect l="l" t="t" r="r" b="b"/>
              <a:pathLst>
                <a:path w="389255" h="398145">
                  <a:moveTo>
                    <a:pt x="388790" y="0"/>
                  </a:moveTo>
                  <a:lnTo>
                    <a:pt x="351924" y="36930"/>
                  </a:lnTo>
                </a:path>
                <a:path w="389255" h="398145">
                  <a:moveTo>
                    <a:pt x="381235" y="398000"/>
                  </a:moveTo>
                  <a:lnTo>
                    <a:pt x="344452" y="361128"/>
                  </a:lnTo>
                </a:path>
                <a:path w="389255" h="398145">
                  <a:moveTo>
                    <a:pt x="7529" y="0"/>
                  </a:moveTo>
                  <a:lnTo>
                    <a:pt x="44337" y="36930"/>
                  </a:lnTo>
                </a:path>
                <a:path w="389255" h="398145">
                  <a:moveTo>
                    <a:pt x="0" y="398000"/>
                  </a:moveTo>
                  <a:lnTo>
                    <a:pt x="36857" y="361127"/>
                  </a:lnTo>
                </a:path>
                <a:path w="389255" h="398145">
                  <a:moveTo>
                    <a:pt x="199840" y="51280"/>
                  </a:moveTo>
                  <a:lnTo>
                    <a:pt x="195877" y="51280"/>
                  </a:lnTo>
                  <a:lnTo>
                    <a:pt x="245445" y="59141"/>
                  </a:lnTo>
                  <a:lnTo>
                    <a:pt x="286275" y="80420"/>
                  </a:lnTo>
                  <a:lnTo>
                    <a:pt x="317059" y="111662"/>
                  </a:lnTo>
                  <a:lnTo>
                    <a:pt x="336488" y="149411"/>
                  </a:lnTo>
                  <a:lnTo>
                    <a:pt x="343255" y="190214"/>
                  </a:lnTo>
                  <a:lnTo>
                    <a:pt x="334651" y="237814"/>
                  </a:lnTo>
                  <a:lnTo>
                    <a:pt x="314134" y="276880"/>
                  </a:lnTo>
                  <a:lnTo>
                    <a:pt x="289646" y="312596"/>
                  </a:lnTo>
                  <a:lnTo>
                    <a:pt x="269129" y="350149"/>
                  </a:lnTo>
                  <a:lnTo>
                    <a:pt x="260525" y="394725"/>
                  </a:lnTo>
                  <a:lnTo>
                    <a:pt x="128256" y="394724"/>
                  </a:lnTo>
                  <a:lnTo>
                    <a:pt x="119678" y="350106"/>
                  </a:lnTo>
                  <a:lnTo>
                    <a:pt x="99222" y="312500"/>
                  </a:lnTo>
                  <a:lnTo>
                    <a:pt x="74807" y="276748"/>
                  </a:lnTo>
                  <a:lnTo>
                    <a:pt x="54352" y="237689"/>
                  </a:lnTo>
                  <a:lnTo>
                    <a:pt x="45774" y="190164"/>
                  </a:lnTo>
                  <a:lnTo>
                    <a:pt x="52522" y="149377"/>
                  </a:lnTo>
                  <a:lnTo>
                    <a:pt x="71913" y="111621"/>
                  </a:lnTo>
                  <a:lnTo>
                    <a:pt x="102668" y="80363"/>
                  </a:lnTo>
                  <a:lnTo>
                    <a:pt x="143507" y="59066"/>
                  </a:lnTo>
                  <a:lnTo>
                    <a:pt x="193152" y="51198"/>
                  </a:lnTo>
                  <a:lnTo>
                    <a:pt x="189189" y="51198"/>
                  </a:lnTo>
                </a:path>
              </a:pathLst>
            </a:custGeom>
            <a:ln w="19833">
              <a:solidFill>
                <a:srgbClr val="000047"/>
              </a:solidFill>
            </a:ln>
          </p:spPr>
          <p:txBody>
            <a:bodyPr wrap="square" lIns="0" tIns="0" rIns="0" bIns="0" rtlCol="0"/>
            <a:lstStyle/>
            <a:p>
              <a:endParaRPr/>
            </a:p>
          </p:txBody>
        </p:sp>
        <p:pic>
          <p:nvPicPr>
            <p:cNvPr id="9" name="object 17">
              <a:extLst>
                <a:ext uri="{FF2B5EF4-FFF2-40B4-BE49-F238E27FC236}">
                  <a16:creationId xmlns:a16="http://schemas.microsoft.com/office/drawing/2014/main" id="{1D4FFCD1-6718-E2ED-BDF4-8F4AE97C2CFE}"/>
                </a:ext>
              </a:extLst>
            </p:cNvPr>
            <p:cNvPicPr/>
            <p:nvPr/>
          </p:nvPicPr>
          <p:blipFill>
            <a:blip r:embed="rId3" cstate="print"/>
            <a:stretch>
              <a:fillRect/>
            </a:stretch>
          </p:blipFill>
          <p:spPr>
            <a:xfrm>
              <a:off x="571990" y="760858"/>
              <a:ext cx="123550" cy="92453"/>
            </a:xfrm>
            <a:prstGeom prst="rect">
              <a:avLst/>
            </a:prstGeom>
          </p:spPr>
        </p:pic>
      </p:grpSp>
      <p:sp>
        <p:nvSpPr>
          <p:cNvPr id="15" name="TextBox 14">
            <a:extLst>
              <a:ext uri="{FF2B5EF4-FFF2-40B4-BE49-F238E27FC236}">
                <a16:creationId xmlns:a16="http://schemas.microsoft.com/office/drawing/2014/main" id="{B8160E31-A16B-2088-A2FB-329B02639E8E}"/>
              </a:ext>
            </a:extLst>
          </p:cNvPr>
          <p:cNvSpPr txBox="1"/>
          <p:nvPr/>
        </p:nvSpPr>
        <p:spPr>
          <a:xfrm>
            <a:off x="736581" y="631988"/>
            <a:ext cx="4140199" cy="400110"/>
          </a:xfrm>
          <a:prstGeom prst="rect">
            <a:avLst/>
          </a:prstGeom>
          <a:noFill/>
        </p:spPr>
        <p:txBody>
          <a:bodyPr wrap="square" rtlCol="0">
            <a:spAutoFit/>
          </a:bodyPr>
          <a:lstStyle/>
          <a:p>
            <a:r>
              <a:rPr lang="en-IN" sz="2000" b="1" u="sng" dirty="0"/>
              <a:t>System Flow:</a:t>
            </a:r>
          </a:p>
        </p:txBody>
      </p:sp>
      <p:pic>
        <p:nvPicPr>
          <p:cNvPr id="11" name="Picture 10">
            <a:extLst>
              <a:ext uri="{FF2B5EF4-FFF2-40B4-BE49-F238E27FC236}">
                <a16:creationId xmlns:a16="http://schemas.microsoft.com/office/drawing/2014/main" id="{2DDE8D3E-4F7B-DF8E-C40F-7567A4C8CC49}"/>
              </a:ext>
            </a:extLst>
          </p:cNvPr>
          <p:cNvPicPr>
            <a:picLocks noChangeAspect="1"/>
          </p:cNvPicPr>
          <p:nvPr/>
        </p:nvPicPr>
        <p:blipFill>
          <a:blip r:embed="rId4">
            <a:duotone>
              <a:prstClr val="black"/>
              <a:schemeClr val="accent5">
                <a:tint val="45000"/>
                <a:satMod val="400000"/>
              </a:schemeClr>
            </a:duotone>
          </a:blip>
          <a:srcRect b="23827"/>
          <a:stretch>
            <a:fillRect/>
          </a:stretch>
        </p:blipFill>
        <p:spPr>
          <a:xfrm>
            <a:off x="3339775" y="600256"/>
            <a:ext cx="5512450" cy="6266211"/>
          </a:xfrm>
          <a:prstGeom prst="rect">
            <a:avLst/>
          </a:prstGeom>
        </p:spPr>
      </p:pic>
    </p:spTree>
    <p:extLst>
      <p:ext uri="{BB962C8B-B14F-4D97-AF65-F5344CB8AC3E}">
        <p14:creationId xmlns:p14="http://schemas.microsoft.com/office/powerpoint/2010/main" val="253351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AA11E-A048-5A3C-2513-2755734A52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0F6993-1F50-5743-BA74-331B925BA574}"/>
              </a:ext>
            </a:extLst>
          </p:cNvPr>
          <p:cNvSpPr>
            <a:spLocks noGrp="1"/>
          </p:cNvSpPr>
          <p:nvPr>
            <p:ph idx="1"/>
          </p:nvPr>
        </p:nvSpPr>
        <p:spPr>
          <a:xfrm>
            <a:off x="905132" y="984643"/>
            <a:ext cx="11059426" cy="5691366"/>
          </a:xfrm>
        </p:spPr>
        <p:txBody>
          <a:bodyPr numCol="2">
            <a:normAutofit fontScale="62500" lnSpcReduction="20000"/>
          </a:bodyPr>
          <a:lstStyle/>
          <a:p>
            <a:pPr marL="0" indent="0">
              <a:buNone/>
            </a:pPr>
            <a:r>
              <a:rPr lang="en-US" sz="3200" b="1" dirty="0"/>
              <a:t>Benefits</a:t>
            </a:r>
          </a:p>
          <a:p>
            <a:pPr>
              <a:buFont typeface="Wingdings" panose="05000000000000000000" pitchFamily="2" charset="2"/>
              <a:buChar char="ü"/>
            </a:pPr>
            <a:r>
              <a:rPr lang="en-IN" sz="2400" dirty="0"/>
              <a:t>Reduces prior authorization processing time from days to minutes</a:t>
            </a:r>
          </a:p>
          <a:p>
            <a:pPr>
              <a:buFont typeface="Wingdings" panose="05000000000000000000" pitchFamily="2" charset="2"/>
              <a:buChar char="ü"/>
            </a:pPr>
            <a:r>
              <a:rPr lang="en-IN" sz="2400" dirty="0"/>
              <a:t>Automates clinical document review and insurance policy validation</a:t>
            </a:r>
          </a:p>
          <a:p>
            <a:pPr>
              <a:buFont typeface="Wingdings" panose="05000000000000000000" pitchFamily="2" charset="2"/>
              <a:buChar char="ü"/>
            </a:pPr>
            <a:r>
              <a:rPr lang="en-IN" sz="2400" dirty="0"/>
              <a:t>Minimizes administrative workload for healthcare providers</a:t>
            </a:r>
          </a:p>
          <a:p>
            <a:pPr>
              <a:buFont typeface="Wingdings" panose="05000000000000000000" pitchFamily="2" charset="2"/>
              <a:buChar char="ü"/>
            </a:pPr>
            <a:r>
              <a:rPr lang="en-IN" sz="2400" dirty="0"/>
              <a:t>Improves authorization accuracy through AI-powered decision support</a:t>
            </a:r>
          </a:p>
          <a:p>
            <a:pPr>
              <a:buFont typeface="Wingdings" panose="05000000000000000000" pitchFamily="2" charset="2"/>
              <a:buChar char="ü"/>
            </a:pPr>
            <a:r>
              <a:rPr lang="en-IN" sz="2400" dirty="0"/>
              <a:t>Enhances collaboration between doctors, patients, and insurance providers</a:t>
            </a:r>
          </a:p>
          <a:p>
            <a:pPr>
              <a:buFont typeface="Wingdings" panose="05000000000000000000" pitchFamily="2" charset="2"/>
              <a:buChar char="ü"/>
            </a:pPr>
            <a:endParaRPr lang="en-US" sz="2600" dirty="0"/>
          </a:p>
          <a:p>
            <a:pPr marL="0" indent="0">
              <a:buNone/>
            </a:pPr>
            <a:r>
              <a:rPr lang="en-US" sz="3200" b="1" dirty="0"/>
              <a:t>Efficiency &amp;</a:t>
            </a:r>
            <a:r>
              <a:rPr lang="en-IN" sz="3200" dirty="0"/>
              <a:t> </a:t>
            </a:r>
            <a:r>
              <a:rPr lang="en-IN" sz="3200" b="1" dirty="0"/>
              <a:t>Automation</a:t>
            </a:r>
            <a:endParaRPr lang="en-US" sz="3200" b="1" dirty="0"/>
          </a:p>
          <a:p>
            <a:pPr>
              <a:buFont typeface="Wingdings" panose="05000000000000000000" pitchFamily="2" charset="2"/>
              <a:buChar char="ü"/>
            </a:pPr>
            <a:r>
              <a:rPr lang="en-IN" sz="2400" dirty="0"/>
              <a:t>Eliminates manual paperwork and repetitive authorization tasks</a:t>
            </a:r>
          </a:p>
          <a:p>
            <a:pPr>
              <a:buFont typeface="Wingdings" panose="05000000000000000000" pitchFamily="2" charset="2"/>
              <a:buChar char="ü"/>
            </a:pPr>
            <a:r>
              <a:rPr lang="en-IN" sz="2400" dirty="0"/>
              <a:t>Performs real-time insurance eligibility verification</a:t>
            </a:r>
            <a:endParaRPr lang="en-US" sz="2600" dirty="0"/>
          </a:p>
          <a:p>
            <a:pPr>
              <a:lnSpc>
                <a:spcPct val="120000"/>
              </a:lnSpc>
              <a:buFont typeface="Wingdings" panose="05000000000000000000" pitchFamily="2" charset="2"/>
              <a:buChar char="ü"/>
            </a:pPr>
            <a:r>
              <a:rPr lang="en-IN" sz="2400" dirty="0"/>
              <a:t>HMH-RAGES pipeline — Multimodal OCR, Hierarchical RAG and Medical NER for clinical analysis</a:t>
            </a:r>
          </a:p>
          <a:p>
            <a:pPr>
              <a:lnSpc>
                <a:spcPct val="120000"/>
              </a:lnSpc>
              <a:buFont typeface="Wingdings" panose="05000000000000000000" pitchFamily="2" charset="2"/>
              <a:buChar char="ü"/>
            </a:pPr>
            <a:r>
              <a:rPr lang="en-IN" sz="2400" dirty="0"/>
              <a:t>RAG based dynamic policy retrieval with weighted risk scoring and XAI recommendation generation</a:t>
            </a:r>
          </a:p>
          <a:p>
            <a:pPr>
              <a:lnSpc>
                <a:spcPct val="120000"/>
              </a:lnSpc>
              <a:buFont typeface="Wingdings" panose="05000000000000000000" pitchFamily="2" charset="2"/>
              <a:buChar char="ü"/>
            </a:pPr>
            <a:r>
              <a:rPr lang="en-IN" sz="2400" dirty="0"/>
              <a:t>Centralized request tracking and authorization history management </a:t>
            </a:r>
          </a:p>
          <a:p>
            <a:pPr>
              <a:lnSpc>
                <a:spcPct val="120000"/>
              </a:lnSpc>
              <a:buFont typeface="Wingdings" panose="05000000000000000000" pitchFamily="2" charset="2"/>
              <a:buChar char="ü"/>
            </a:pPr>
            <a:endParaRPr lang="en-IN" sz="2400" dirty="0"/>
          </a:p>
          <a:p>
            <a:pPr marL="0" indent="0">
              <a:lnSpc>
                <a:spcPct val="120000"/>
              </a:lnSpc>
              <a:buNone/>
            </a:pPr>
            <a:r>
              <a:rPr lang="en-IN" sz="3200" b="1" dirty="0"/>
              <a:t>Scalability</a:t>
            </a:r>
          </a:p>
          <a:p>
            <a:pPr>
              <a:buFont typeface="Wingdings" panose="05000000000000000000" pitchFamily="2" charset="2"/>
              <a:buChar char="ü"/>
            </a:pPr>
            <a:r>
              <a:rPr lang="en-IN" sz="2400" dirty="0"/>
              <a:t>Cloud-native architecture supports multiple healthcare organizations</a:t>
            </a:r>
            <a:r>
              <a:rPr lang="en-IN" sz="2600" dirty="0"/>
              <a:t> </a:t>
            </a:r>
          </a:p>
          <a:p>
            <a:pPr>
              <a:buFont typeface="Wingdings" panose="05000000000000000000" pitchFamily="2" charset="2"/>
              <a:buChar char="ü"/>
            </a:pPr>
            <a:r>
              <a:rPr lang="en-IN" sz="2400" dirty="0"/>
              <a:t>Handles large volumes of authorization requests efficiently</a:t>
            </a:r>
          </a:p>
          <a:p>
            <a:pPr>
              <a:buFont typeface="Wingdings" panose="05000000000000000000" pitchFamily="2" charset="2"/>
              <a:buChar char="ü"/>
            </a:pPr>
            <a:r>
              <a:rPr lang="en-IN" sz="2400" dirty="0"/>
              <a:t>Modular microservices architecture enables easy feature expansion</a:t>
            </a:r>
          </a:p>
          <a:p>
            <a:pPr>
              <a:buFont typeface="Wingdings" panose="05000000000000000000" pitchFamily="2" charset="2"/>
              <a:buChar char="ü"/>
            </a:pPr>
            <a:r>
              <a:rPr lang="en-IN" sz="2400" dirty="0"/>
              <a:t>Supports integration with multiple insurance providers and healthcare systems</a:t>
            </a:r>
            <a:r>
              <a:rPr lang="en-IN" sz="2600" dirty="0"/>
              <a:t> </a:t>
            </a:r>
          </a:p>
          <a:p>
            <a:pPr>
              <a:buFont typeface="Wingdings" panose="05000000000000000000" pitchFamily="2" charset="2"/>
              <a:buChar char="ü"/>
            </a:pPr>
            <a:r>
              <a:rPr lang="en-IN" sz="2400" dirty="0"/>
              <a:t>Ready for deployment on Docker, Cloudflare, and cloud platforms</a:t>
            </a:r>
            <a:endParaRPr lang="en-IN" sz="2600" dirty="0"/>
          </a:p>
          <a:p>
            <a:pPr marL="0" indent="0">
              <a:buNone/>
            </a:pPr>
            <a:endParaRPr lang="en-IN" sz="2600" dirty="0"/>
          </a:p>
          <a:p>
            <a:pPr marL="0" indent="0">
              <a:buNone/>
            </a:pPr>
            <a:r>
              <a:rPr lang="en-IN" sz="3200" b="1" dirty="0"/>
              <a:t>Healthcare</a:t>
            </a:r>
            <a:r>
              <a:rPr lang="en-US" sz="3200" b="1" dirty="0"/>
              <a:t> Impact</a:t>
            </a:r>
          </a:p>
          <a:p>
            <a:pPr>
              <a:buFont typeface="Wingdings" panose="05000000000000000000" pitchFamily="2" charset="2"/>
              <a:buChar char="ü"/>
            </a:pPr>
            <a:r>
              <a:rPr lang="en-IN" sz="2400" dirty="0"/>
              <a:t>Accelerates patient access to critical treatments and procedures</a:t>
            </a:r>
            <a:endParaRPr lang="en-US" sz="2600" dirty="0"/>
          </a:p>
          <a:p>
            <a:pPr>
              <a:buFont typeface="Wingdings" panose="05000000000000000000" pitchFamily="2" charset="2"/>
              <a:buChar char="ü"/>
            </a:pPr>
            <a:r>
              <a:rPr lang="en-IN" sz="2400" dirty="0"/>
              <a:t>Reduces treatment delays caused by authorization bottlenecks </a:t>
            </a:r>
          </a:p>
          <a:p>
            <a:pPr>
              <a:buFont typeface="Wingdings" panose="05000000000000000000" pitchFamily="2" charset="2"/>
              <a:buChar char="ü"/>
            </a:pPr>
            <a:r>
              <a:rPr lang="en-IN" sz="2400" dirty="0"/>
              <a:t>Improves patient satisfaction through faster approval workflows </a:t>
            </a:r>
          </a:p>
          <a:p>
            <a:pPr>
              <a:buFont typeface="Wingdings" panose="05000000000000000000" pitchFamily="2" charset="2"/>
              <a:buChar char="ü"/>
            </a:pPr>
            <a:r>
              <a:rPr lang="en-IN" sz="2400" dirty="0"/>
              <a:t>Enables transparent and auditable authorization decisions</a:t>
            </a:r>
            <a:endParaRPr lang="en-US" sz="2600" dirty="0"/>
          </a:p>
          <a:p>
            <a:pPr>
              <a:buFont typeface="Wingdings" panose="05000000000000000000" pitchFamily="2" charset="2"/>
              <a:buChar char="ü"/>
            </a:pPr>
            <a:r>
              <a:rPr lang="en-IN" sz="2400" dirty="0"/>
              <a:t>Supports digital transformation in healthcare administration</a:t>
            </a:r>
            <a:endParaRPr lang="en-US" dirty="0"/>
          </a:p>
        </p:txBody>
      </p:sp>
      <p:sp>
        <p:nvSpPr>
          <p:cNvPr id="4" name="Rectangle 3">
            <a:extLst>
              <a:ext uri="{FF2B5EF4-FFF2-40B4-BE49-F238E27FC236}">
                <a16:creationId xmlns:a16="http://schemas.microsoft.com/office/drawing/2014/main" id="{D01F445B-7573-547A-C3DF-95CB78B985B6}"/>
              </a:ext>
            </a:extLst>
          </p:cNvPr>
          <p:cNvSpPr/>
          <p:nvPr/>
        </p:nvSpPr>
        <p:spPr>
          <a:xfrm>
            <a:off x="0" y="0"/>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7ED28C6-CF2D-1F24-78E8-E4F9A8B78B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
        <p:nvSpPr>
          <p:cNvPr id="7" name="Title 1">
            <a:extLst>
              <a:ext uri="{FF2B5EF4-FFF2-40B4-BE49-F238E27FC236}">
                <a16:creationId xmlns:a16="http://schemas.microsoft.com/office/drawing/2014/main" id="{27A52F76-991D-9994-C2E8-AB12D02AA247}"/>
              </a:ext>
            </a:extLst>
          </p:cNvPr>
          <p:cNvSpPr txBox="1">
            <a:spLocks/>
          </p:cNvSpPr>
          <p:nvPr/>
        </p:nvSpPr>
        <p:spPr>
          <a:xfrm rot="10800000" flipV="1">
            <a:off x="1235335" y="269168"/>
            <a:ext cx="10729222" cy="403669"/>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a:latin typeface="Arial" panose="020B0604020202020204" pitchFamily="34" charset="0"/>
                <a:cs typeface="Arial" panose="020B0604020202020204" pitchFamily="34" charset="0"/>
              </a:rPr>
              <a:t>Zintellect AI: Intelligent Healthcare Prior Authorization Automation Platform</a:t>
            </a:r>
            <a:endParaRPr lang="en-US" b="1" dirty="0">
              <a:latin typeface="Arial" panose="020B0604020202020204" pitchFamily="34" charset="0"/>
              <a:cs typeface="Arial" panose="020B0604020202020204" pitchFamily="34" charset="0"/>
            </a:endParaRPr>
          </a:p>
        </p:txBody>
      </p:sp>
      <p:pic>
        <p:nvPicPr>
          <p:cNvPr id="11" name="object 13">
            <a:extLst>
              <a:ext uri="{FF2B5EF4-FFF2-40B4-BE49-F238E27FC236}">
                <a16:creationId xmlns:a16="http://schemas.microsoft.com/office/drawing/2014/main" id="{93A0ABC9-6BA9-4B65-0D04-CB16DDBA6401}"/>
              </a:ext>
            </a:extLst>
          </p:cNvPr>
          <p:cNvPicPr/>
          <p:nvPr/>
        </p:nvPicPr>
        <p:blipFill>
          <a:blip r:embed="rId3" cstate="print"/>
          <a:stretch>
            <a:fillRect/>
          </a:stretch>
        </p:blipFill>
        <p:spPr>
          <a:xfrm>
            <a:off x="774741" y="181991"/>
            <a:ext cx="473963" cy="473913"/>
          </a:xfrm>
          <a:prstGeom prst="rect">
            <a:avLst/>
          </a:prstGeom>
        </p:spPr>
      </p:pic>
    </p:spTree>
    <p:extLst>
      <p:ext uri="{BB962C8B-B14F-4D97-AF65-F5344CB8AC3E}">
        <p14:creationId xmlns:p14="http://schemas.microsoft.com/office/powerpoint/2010/main" val="3645921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861E6-E672-248A-DA43-F3F78F5054F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59A9BC-6B14-04BF-E04C-969CE0706C2E}"/>
              </a:ext>
            </a:extLst>
          </p:cNvPr>
          <p:cNvSpPr>
            <a:spLocks noGrp="1"/>
          </p:cNvSpPr>
          <p:nvPr>
            <p:ph idx="1"/>
          </p:nvPr>
        </p:nvSpPr>
        <p:spPr>
          <a:xfrm>
            <a:off x="673768" y="707757"/>
            <a:ext cx="11518232" cy="6328044"/>
          </a:xfrm>
        </p:spPr>
        <p:txBody>
          <a:bodyPr numCol="2">
            <a:normAutofit/>
          </a:bodyPr>
          <a:lstStyle/>
          <a:p>
            <a:pPr marL="0" indent="0">
              <a:buNone/>
            </a:pPr>
            <a:r>
              <a:rPr lang="en-US" sz="2000" b="1" u="sng" dirty="0"/>
              <a:t>Future Enhancements:</a:t>
            </a:r>
          </a:p>
          <a:p>
            <a:pPr marL="0" indent="0">
              <a:lnSpc>
                <a:spcPct val="120000"/>
              </a:lnSpc>
              <a:buNone/>
            </a:pPr>
            <a:r>
              <a:rPr lang="en-IN" sz="2000" b="1" dirty="0"/>
              <a:t>AI Enhancements</a:t>
            </a:r>
          </a:p>
          <a:p>
            <a:pPr marL="0" indent="0">
              <a:lnSpc>
                <a:spcPct val="120000"/>
              </a:lnSpc>
              <a:buNone/>
            </a:pPr>
            <a:r>
              <a:rPr lang="en-IN" sz="1600" dirty="0"/>
              <a:t>✔ Upgrade to Qwen 2.5 7B / 14B for complex clinical reasoning</a:t>
            </a:r>
          </a:p>
          <a:p>
            <a:pPr marL="0" indent="0">
              <a:lnSpc>
                <a:spcPct val="120000"/>
              </a:lnSpc>
              <a:buNone/>
            </a:pPr>
            <a:r>
              <a:rPr lang="en-IN" sz="1600" dirty="0"/>
              <a:t>✔ Multi-LLM Support (Qwen, Llama, GPT)</a:t>
            </a:r>
          </a:p>
          <a:p>
            <a:pPr marL="0" indent="0">
              <a:buNone/>
            </a:pPr>
            <a:r>
              <a:rPr lang="en-IN" sz="1600" dirty="0"/>
              <a:t>✔ Full HMH-RAGES production deployment with persistent vector DB</a:t>
            </a:r>
          </a:p>
          <a:p>
            <a:pPr marL="0" indent="0">
              <a:buNone/>
            </a:pPr>
            <a:r>
              <a:rPr lang="en-IN" sz="1600" dirty="0"/>
              <a:t>✔ Clinical Risk Assessment Engine</a:t>
            </a:r>
          </a:p>
          <a:p>
            <a:pPr marL="0" indent="0">
              <a:buNone/>
            </a:pPr>
            <a:r>
              <a:rPr lang="en-IN" sz="2000" b="1" dirty="0"/>
              <a:t>User Experience</a:t>
            </a:r>
          </a:p>
          <a:p>
            <a:pPr marL="0" indent="0">
              <a:buNone/>
            </a:pPr>
            <a:r>
              <a:rPr lang="en-IN" sz="1600" dirty="0"/>
              <a:t>✔ Mobile Application Support</a:t>
            </a:r>
          </a:p>
          <a:p>
            <a:pPr marL="0" indent="0">
              <a:buNone/>
            </a:pPr>
            <a:r>
              <a:rPr lang="en-IN" sz="1600" dirty="0"/>
              <a:t>✔ SMS Notifications</a:t>
            </a:r>
          </a:p>
          <a:p>
            <a:pPr marL="0" indent="0">
              <a:buNone/>
            </a:pPr>
            <a:r>
              <a:rPr lang="en-IN" sz="1600" dirty="0"/>
              <a:t>✔ Real-Time Authorization Alerts</a:t>
            </a:r>
          </a:p>
          <a:p>
            <a:pPr marL="0" indent="0">
              <a:buNone/>
            </a:pPr>
            <a:r>
              <a:rPr lang="en-IN" sz="1600" dirty="0"/>
              <a:t>✔ Voice-Based Clinical Documentation</a:t>
            </a:r>
          </a:p>
          <a:p>
            <a:pPr marL="0" indent="0">
              <a:buNone/>
            </a:pPr>
            <a:r>
              <a:rPr lang="en-IN" sz="2000" b="1" dirty="0"/>
              <a:t>Enterprise Scalability</a:t>
            </a:r>
          </a:p>
          <a:p>
            <a:pPr marL="0" indent="0">
              <a:buNone/>
            </a:pPr>
            <a:r>
              <a:rPr lang="en-IN" sz="1600" dirty="0"/>
              <a:t>✔ Cloud Deployment (AWS / Azure)</a:t>
            </a:r>
          </a:p>
          <a:p>
            <a:pPr marL="0" indent="0">
              <a:buNone/>
            </a:pPr>
            <a:r>
              <a:rPr lang="en-IN" sz="1600" dirty="0"/>
              <a:t>✔ Kubernetes Orchestration</a:t>
            </a:r>
          </a:p>
          <a:p>
            <a:pPr marL="0" indent="0">
              <a:buNone/>
            </a:pPr>
            <a:r>
              <a:rPr lang="en-IN" sz="1600" dirty="0"/>
              <a:t>✔ Multi-Hospital Support</a:t>
            </a:r>
          </a:p>
          <a:p>
            <a:pPr marL="0" indent="0">
              <a:buNone/>
            </a:pPr>
            <a:r>
              <a:rPr lang="en-IN" sz="1600" dirty="0"/>
              <a:t>✔ Analytics &amp; Reporting Dashboard</a:t>
            </a:r>
          </a:p>
          <a:p>
            <a:pPr marL="0" indent="0">
              <a:buNone/>
            </a:pPr>
            <a:endParaRPr lang="en-IN" sz="1600" dirty="0"/>
          </a:p>
          <a:p>
            <a:pPr marL="0" indent="0">
              <a:lnSpc>
                <a:spcPct val="120000"/>
              </a:lnSpc>
              <a:buNone/>
            </a:pPr>
            <a:endParaRPr lang="en-IN" sz="1600" dirty="0"/>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dirty="0"/>
          </a:p>
          <a:p>
            <a:pPr>
              <a:lnSpc>
                <a:spcPct val="120000"/>
              </a:lnSpc>
              <a:buFont typeface="Wingdings" panose="05000000000000000000" pitchFamily="2" charset="2"/>
              <a:buChar char="v"/>
            </a:pPr>
            <a:endParaRPr lang="en-IN" sz="1600" dirty="0"/>
          </a:p>
          <a:p>
            <a:pPr marL="0" indent="0">
              <a:buNone/>
            </a:pPr>
            <a:endParaRPr lang="en-US" sz="1600" dirty="0"/>
          </a:p>
        </p:txBody>
      </p:sp>
      <p:sp>
        <p:nvSpPr>
          <p:cNvPr id="4" name="Rectangle 3">
            <a:extLst>
              <a:ext uri="{FF2B5EF4-FFF2-40B4-BE49-F238E27FC236}">
                <a16:creationId xmlns:a16="http://schemas.microsoft.com/office/drawing/2014/main" id="{42E02690-D4AF-89E1-6A46-284E674FE752}"/>
              </a:ext>
            </a:extLst>
          </p:cNvPr>
          <p:cNvSpPr/>
          <p:nvPr/>
        </p:nvSpPr>
        <p:spPr>
          <a:xfrm>
            <a:off x="0" y="8467"/>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413486B1-2E5C-A54D-14CB-C20C425D7F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
        <p:nvSpPr>
          <p:cNvPr id="6" name="Title 1">
            <a:extLst>
              <a:ext uri="{FF2B5EF4-FFF2-40B4-BE49-F238E27FC236}">
                <a16:creationId xmlns:a16="http://schemas.microsoft.com/office/drawing/2014/main" id="{4E3DE17F-A59F-D1BE-B547-396C79C55E39}"/>
              </a:ext>
            </a:extLst>
          </p:cNvPr>
          <p:cNvSpPr txBox="1">
            <a:spLocks/>
          </p:cNvSpPr>
          <p:nvPr/>
        </p:nvSpPr>
        <p:spPr>
          <a:xfrm rot="10800000" flipV="1">
            <a:off x="1235334" y="269168"/>
            <a:ext cx="10685732" cy="403669"/>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err="1">
                <a:latin typeface="Arial" panose="020B0604020202020204" pitchFamily="34" charset="0"/>
                <a:cs typeface="Arial" panose="020B0604020202020204" pitchFamily="34" charset="0"/>
              </a:rPr>
              <a:t>Zintellect</a:t>
            </a:r>
            <a:r>
              <a:rPr lang="en-IN" dirty="0">
                <a:latin typeface="Arial" panose="020B0604020202020204" pitchFamily="34" charset="0"/>
                <a:cs typeface="Arial" panose="020B0604020202020204" pitchFamily="34" charset="0"/>
              </a:rPr>
              <a:t> AI: Intelligent Healthcare Prior Authorization Automation Platform</a:t>
            </a:r>
            <a:endParaRPr lang="en-US" b="1" dirty="0">
              <a:latin typeface="Arial" panose="020B0604020202020204" pitchFamily="34" charset="0"/>
              <a:cs typeface="Arial" panose="020B0604020202020204" pitchFamily="34" charset="0"/>
            </a:endParaRPr>
          </a:p>
        </p:txBody>
      </p:sp>
      <p:grpSp>
        <p:nvGrpSpPr>
          <p:cNvPr id="7" name="object 15">
            <a:extLst>
              <a:ext uri="{FF2B5EF4-FFF2-40B4-BE49-F238E27FC236}">
                <a16:creationId xmlns:a16="http://schemas.microsoft.com/office/drawing/2014/main" id="{421C1E00-BBE4-C153-96B1-32370F7D954F}"/>
              </a:ext>
            </a:extLst>
          </p:cNvPr>
          <p:cNvGrpSpPr/>
          <p:nvPr/>
        </p:nvGrpSpPr>
        <p:grpSpPr>
          <a:xfrm>
            <a:off x="809235" y="157310"/>
            <a:ext cx="408940" cy="525780"/>
            <a:chOff x="429458" y="327830"/>
            <a:chExt cx="408940" cy="525780"/>
          </a:xfrm>
        </p:grpSpPr>
        <p:sp>
          <p:nvSpPr>
            <p:cNvPr id="8" name="object 16">
              <a:extLst>
                <a:ext uri="{FF2B5EF4-FFF2-40B4-BE49-F238E27FC236}">
                  <a16:creationId xmlns:a16="http://schemas.microsoft.com/office/drawing/2014/main" id="{FA85D210-F71C-C8FF-1766-3649BBABA442}"/>
                </a:ext>
              </a:extLst>
            </p:cNvPr>
            <p:cNvSpPr/>
            <p:nvPr/>
          </p:nvSpPr>
          <p:spPr>
            <a:xfrm>
              <a:off x="439374" y="337747"/>
              <a:ext cx="389255" cy="398145"/>
            </a:xfrm>
            <a:custGeom>
              <a:avLst/>
              <a:gdLst/>
              <a:ahLst/>
              <a:cxnLst/>
              <a:rect l="l" t="t" r="r" b="b"/>
              <a:pathLst>
                <a:path w="389255" h="398145">
                  <a:moveTo>
                    <a:pt x="388790" y="0"/>
                  </a:moveTo>
                  <a:lnTo>
                    <a:pt x="351924" y="36930"/>
                  </a:lnTo>
                </a:path>
                <a:path w="389255" h="398145">
                  <a:moveTo>
                    <a:pt x="381235" y="398000"/>
                  </a:moveTo>
                  <a:lnTo>
                    <a:pt x="344452" y="361128"/>
                  </a:lnTo>
                </a:path>
                <a:path w="389255" h="398145">
                  <a:moveTo>
                    <a:pt x="7529" y="0"/>
                  </a:moveTo>
                  <a:lnTo>
                    <a:pt x="44337" y="36930"/>
                  </a:lnTo>
                </a:path>
                <a:path w="389255" h="398145">
                  <a:moveTo>
                    <a:pt x="0" y="398000"/>
                  </a:moveTo>
                  <a:lnTo>
                    <a:pt x="36857" y="361127"/>
                  </a:lnTo>
                </a:path>
                <a:path w="389255" h="398145">
                  <a:moveTo>
                    <a:pt x="199840" y="51280"/>
                  </a:moveTo>
                  <a:lnTo>
                    <a:pt x="195877" y="51280"/>
                  </a:lnTo>
                  <a:lnTo>
                    <a:pt x="245445" y="59141"/>
                  </a:lnTo>
                  <a:lnTo>
                    <a:pt x="286275" y="80420"/>
                  </a:lnTo>
                  <a:lnTo>
                    <a:pt x="317059" y="111662"/>
                  </a:lnTo>
                  <a:lnTo>
                    <a:pt x="336488" y="149411"/>
                  </a:lnTo>
                  <a:lnTo>
                    <a:pt x="343255" y="190214"/>
                  </a:lnTo>
                  <a:lnTo>
                    <a:pt x="334651" y="237814"/>
                  </a:lnTo>
                  <a:lnTo>
                    <a:pt x="314134" y="276880"/>
                  </a:lnTo>
                  <a:lnTo>
                    <a:pt x="289646" y="312596"/>
                  </a:lnTo>
                  <a:lnTo>
                    <a:pt x="269129" y="350149"/>
                  </a:lnTo>
                  <a:lnTo>
                    <a:pt x="260525" y="394725"/>
                  </a:lnTo>
                  <a:lnTo>
                    <a:pt x="128256" y="394724"/>
                  </a:lnTo>
                  <a:lnTo>
                    <a:pt x="119678" y="350106"/>
                  </a:lnTo>
                  <a:lnTo>
                    <a:pt x="99222" y="312500"/>
                  </a:lnTo>
                  <a:lnTo>
                    <a:pt x="74807" y="276748"/>
                  </a:lnTo>
                  <a:lnTo>
                    <a:pt x="54352" y="237689"/>
                  </a:lnTo>
                  <a:lnTo>
                    <a:pt x="45774" y="190164"/>
                  </a:lnTo>
                  <a:lnTo>
                    <a:pt x="52522" y="149377"/>
                  </a:lnTo>
                  <a:lnTo>
                    <a:pt x="71913" y="111621"/>
                  </a:lnTo>
                  <a:lnTo>
                    <a:pt x="102668" y="80363"/>
                  </a:lnTo>
                  <a:lnTo>
                    <a:pt x="143507" y="59066"/>
                  </a:lnTo>
                  <a:lnTo>
                    <a:pt x="193152" y="51198"/>
                  </a:lnTo>
                  <a:lnTo>
                    <a:pt x="189189" y="51198"/>
                  </a:lnTo>
                </a:path>
              </a:pathLst>
            </a:custGeom>
            <a:ln w="19833">
              <a:solidFill>
                <a:srgbClr val="000047"/>
              </a:solidFill>
            </a:ln>
          </p:spPr>
          <p:txBody>
            <a:bodyPr wrap="square" lIns="0" tIns="0" rIns="0" bIns="0" rtlCol="0"/>
            <a:lstStyle/>
            <a:p>
              <a:endParaRPr/>
            </a:p>
          </p:txBody>
        </p:sp>
        <p:pic>
          <p:nvPicPr>
            <p:cNvPr id="9" name="object 17">
              <a:extLst>
                <a:ext uri="{FF2B5EF4-FFF2-40B4-BE49-F238E27FC236}">
                  <a16:creationId xmlns:a16="http://schemas.microsoft.com/office/drawing/2014/main" id="{066ADAD4-4A8E-4AD7-EF57-CD91341302BB}"/>
                </a:ext>
              </a:extLst>
            </p:cNvPr>
            <p:cNvPicPr/>
            <p:nvPr/>
          </p:nvPicPr>
          <p:blipFill>
            <a:blip r:embed="rId3" cstate="print"/>
            <a:stretch>
              <a:fillRect/>
            </a:stretch>
          </p:blipFill>
          <p:spPr>
            <a:xfrm>
              <a:off x="571990" y="760858"/>
              <a:ext cx="123550" cy="92453"/>
            </a:xfrm>
            <a:prstGeom prst="rect">
              <a:avLst/>
            </a:prstGeom>
          </p:spPr>
        </p:pic>
      </p:grpSp>
      <p:sp>
        <p:nvSpPr>
          <p:cNvPr id="15" name="TextBox 14">
            <a:extLst>
              <a:ext uri="{FF2B5EF4-FFF2-40B4-BE49-F238E27FC236}">
                <a16:creationId xmlns:a16="http://schemas.microsoft.com/office/drawing/2014/main" id="{A81AC283-9190-BCD6-ABA9-21EFDA9634B9}"/>
              </a:ext>
            </a:extLst>
          </p:cNvPr>
          <p:cNvSpPr txBox="1"/>
          <p:nvPr/>
        </p:nvSpPr>
        <p:spPr>
          <a:xfrm>
            <a:off x="6096000" y="682786"/>
            <a:ext cx="4140199" cy="400110"/>
          </a:xfrm>
          <a:prstGeom prst="rect">
            <a:avLst/>
          </a:prstGeom>
          <a:noFill/>
        </p:spPr>
        <p:txBody>
          <a:bodyPr wrap="square" rtlCol="0">
            <a:spAutoFit/>
          </a:bodyPr>
          <a:lstStyle/>
          <a:p>
            <a:r>
              <a:rPr lang="en-IN" sz="2000" b="1" u="sng" dirty="0"/>
              <a:t>Architectural Diagram:</a:t>
            </a:r>
          </a:p>
        </p:txBody>
      </p:sp>
      <p:pic>
        <p:nvPicPr>
          <p:cNvPr id="10" name="Picture 9">
            <a:extLst>
              <a:ext uri="{FF2B5EF4-FFF2-40B4-BE49-F238E27FC236}">
                <a16:creationId xmlns:a16="http://schemas.microsoft.com/office/drawing/2014/main" id="{971F964A-A98A-C785-0269-65656C44A45F}"/>
              </a:ext>
            </a:extLst>
          </p:cNvPr>
          <p:cNvPicPr>
            <a:picLocks noChangeAspect="1"/>
          </p:cNvPicPr>
          <p:nvPr/>
        </p:nvPicPr>
        <p:blipFill>
          <a:blip r:embed="rId4">
            <a:extLst>
              <a:ext uri="{BEBA8EAE-BF5A-486C-A8C5-ECC9F3942E4B}">
                <a14:imgProps xmlns:a14="http://schemas.microsoft.com/office/drawing/2010/main">
                  <a14:imgLayer r:embed="rId5">
                    <a14:imgEffect>
                      <a14:colorTemperature colorTemp="11200"/>
                    </a14:imgEffect>
                  </a14:imgLayer>
                </a14:imgProps>
              </a:ext>
            </a:extLst>
          </a:blip>
          <a:srcRect l="5442" r="5199" b="40494"/>
          <a:stretch>
            <a:fillRect/>
          </a:stretch>
        </p:blipFill>
        <p:spPr>
          <a:xfrm>
            <a:off x="6432884" y="964554"/>
            <a:ext cx="5579532" cy="5893446"/>
          </a:xfrm>
          <a:prstGeom prst="rect">
            <a:avLst/>
          </a:prstGeom>
        </p:spPr>
      </p:pic>
    </p:spTree>
    <p:extLst>
      <p:ext uri="{BB962C8B-B14F-4D97-AF65-F5344CB8AC3E}">
        <p14:creationId xmlns:p14="http://schemas.microsoft.com/office/powerpoint/2010/main" val="184258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C45B4-F6AB-FBCE-DD61-94AFAFFDD1AA}"/>
            </a:ext>
          </a:extLst>
        </p:cNvPr>
        <p:cNvGrpSpPr/>
        <p:nvPr/>
      </p:nvGrpSpPr>
      <p:grpSpPr>
        <a:xfrm>
          <a:off x="0" y="0"/>
          <a:ext cx="0" cy="0"/>
          <a:chOff x="0" y="0"/>
          <a:chExt cx="0" cy="0"/>
        </a:xfrm>
      </p:grpSpPr>
      <p:pic>
        <p:nvPicPr>
          <p:cNvPr id="10" name="Content Placeholder 9">
            <a:extLst>
              <a:ext uri="{FF2B5EF4-FFF2-40B4-BE49-F238E27FC236}">
                <a16:creationId xmlns:a16="http://schemas.microsoft.com/office/drawing/2014/main" id="{1A89276D-7DA7-D2B3-59E1-DBBD8F2F88F2}"/>
              </a:ext>
            </a:extLst>
          </p:cNvPr>
          <p:cNvPicPr>
            <a:picLocks noGrp="1" noChangeAspect="1"/>
          </p:cNvPicPr>
          <p:nvPr>
            <p:ph idx="1"/>
          </p:nvPr>
        </p:nvPicPr>
        <p:blipFill>
          <a:blip r:embed="rId2"/>
          <a:stretch>
            <a:fillRect/>
          </a:stretch>
        </p:blipFill>
        <p:spPr>
          <a:xfrm>
            <a:off x="1377669" y="1122880"/>
            <a:ext cx="4718331" cy="4313903"/>
          </a:xfrm>
          <a:prstGeom prst="rect">
            <a:avLst/>
          </a:prstGeom>
          <a:ln w="12700">
            <a:solidFill>
              <a:schemeClr val="tx1"/>
            </a:solidFill>
          </a:ln>
        </p:spPr>
      </p:pic>
      <p:sp>
        <p:nvSpPr>
          <p:cNvPr id="4" name="Rectangle 3">
            <a:extLst>
              <a:ext uri="{FF2B5EF4-FFF2-40B4-BE49-F238E27FC236}">
                <a16:creationId xmlns:a16="http://schemas.microsoft.com/office/drawing/2014/main" id="{88BB14E2-FA08-E829-0264-4C0210D309C6}"/>
              </a:ext>
            </a:extLst>
          </p:cNvPr>
          <p:cNvSpPr/>
          <p:nvPr/>
        </p:nvSpPr>
        <p:spPr>
          <a:xfrm>
            <a:off x="0" y="8467"/>
            <a:ext cx="673768" cy="6858000"/>
          </a:xfrm>
          <a:prstGeom prst="rect">
            <a:avLst/>
          </a:pr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945029C-3545-AFD6-92BF-4E75A6CEE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52" y="36859"/>
            <a:ext cx="567263" cy="563397"/>
          </a:xfrm>
          <a:prstGeom prst="rect">
            <a:avLst/>
          </a:prstGeom>
        </p:spPr>
      </p:pic>
      <p:sp>
        <p:nvSpPr>
          <p:cNvPr id="6" name="Title 1">
            <a:extLst>
              <a:ext uri="{FF2B5EF4-FFF2-40B4-BE49-F238E27FC236}">
                <a16:creationId xmlns:a16="http://schemas.microsoft.com/office/drawing/2014/main" id="{82559136-584E-1838-5457-E15F7D2AA213}"/>
              </a:ext>
            </a:extLst>
          </p:cNvPr>
          <p:cNvSpPr txBox="1">
            <a:spLocks/>
          </p:cNvSpPr>
          <p:nvPr/>
        </p:nvSpPr>
        <p:spPr>
          <a:xfrm rot="10800000" flipV="1">
            <a:off x="1235334" y="269168"/>
            <a:ext cx="10685732" cy="403669"/>
          </a:xfrm>
          <a:prstGeom prst="rect">
            <a:avLst/>
          </a:prstGeom>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err="1">
                <a:latin typeface="Arial" panose="020B0604020202020204" pitchFamily="34" charset="0"/>
                <a:cs typeface="Arial" panose="020B0604020202020204" pitchFamily="34" charset="0"/>
              </a:rPr>
              <a:t>Zintellect</a:t>
            </a:r>
            <a:r>
              <a:rPr lang="en-IN" dirty="0">
                <a:latin typeface="Arial" panose="020B0604020202020204" pitchFamily="34" charset="0"/>
                <a:cs typeface="Arial" panose="020B0604020202020204" pitchFamily="34" charset="0"/>
              </a:rPr>
              <a:t> AI </a:t>
            </a:r>
            <a:r>
              <a:rPr lang="en-IN">
                <a:latin typeface="Arial" panose="020B0604020202020204" pitchFamily="34" charset="0"/>
                <a:cs typeface="Arial" panose="020B0604020202020204" pitchFamily="34" charset="0"/>
              </a:rPr>
              <a:t>– System </a:t>
            </a:r>
            <a:r>
              <a:rPr lang="en-IN" dirty="0">
                <a:latin typeface="Arial" panose="020B0604020202020204" pitchFamily="34" charset="0"/>
                <a:cs typeface="Arial" panose="020B0604020202020204" pitchFamily="34" charset="0"/>
              </a:rPr>
              <a:t>Demonstration</a:t>
            </a:r>
            <a:endParaRPr lang="en-US" b="1" dirty="0">
              <a:latin typeface="Arial" panose="020B0604020202020204" pitchFamily="34" charset="0"/>
              <a:cs typeface="Arial" panose="020B0604020202020204" pitchFamily="34" charset="0"/>
            </a:endParaRPr>
          </a:p>
        </p:txBody>
      </p:sp>
      <p:grpSp>
        <p:nvGrpSpPr>
          <p:cNvPr id="7" name="object 15">
            <a:extLst>
              <a:ext uri="{FF2B5EF4-FFF2-40B4-BE49-F238E27FC236}">
                <a16:creationId xmlns:a16="http://schemas.microsoft.com/office/drawing/2014/main" id="{34A31C26-4772-8B0F-9778-72D3DF6E1131}"/>
              </a:ext>
            </a:extLst>
          </p:cNvPr>
          <p:cNvGrpSpPr/>
          <p:nvPr/>
        </p:nvGrpSpPr>
        <p:grpSpPr>
          <a:xfrm>
            <a:off x="809235" y="157310"/>
            <a:ext cx="408940" cy="525780"/>
            <a:chOff x="429458" y="327830"/>
            <a:chExt cx="408940" cy="525780"/>
          </a:xfrm>
        </p:grpSpPr>
        <p:sp>
          <p:nvSpPr>
            <p:cNvPr id="8" name="object 16">
              <a:extLst>
                <a:ext uri="{FF2B5EF4-FFF2-40B4-BE49-F238E27FC236}">
                  <a16:creationId xmlns:a16="http://schemas.microsoft.com/office/drawing/2014/main" id="{BCC66140-90C2-122C-4905-2062C571A4FA}"/>
                </a:ext>
              </a:extLst>
            </p:cNvPr>
            <p:cNvSpPr/>
            <p:nvPr/>
          </p:nvSpPr>
          <p:spPr>
            <a:xfrm>
              <a:off x="439374" y="337747"/>
              <a:ext cx="389255" cy="398145"/>
            </a:xfrm>
            <a:custGeom>
              <a:avLst/>
              <a:gdLst/>
              <a:ahLst/>
              <a:cxnLst/>
              <a:rect l="l" t="t" r="r" b="b"/>
              <a:pathLst>
                <a:path w="389255" h="398145">
                  <a:moveTo>
                    <a:pt x="388790" y="0"/>
                  </a:moveTo>
                  <a:lnTo>
                    <a:pt x="351924" y="36930"/>
                  </a:lnTo>
                </a:path>
                <a:path w="389255" h="398145">
                  <a:moveTo>
                    <a:pt x="381235" y="398000"/>
                  </a:moveTo>
                  <a:lnTo>
                    <a:pt x="344452" y="361128"/>
                  </a:lnTo>
                </a:path>
                <a:path w="389255" h="398145">
                  <a:moveTo>
                    <a:pt x="7529" y="0"/>
                  </a:moveTo>
                  <a:lnTo>
                    <a:pt x="44337" y="36930"/>
                  </a:lnTo>
                </a:path>
                <a:path w="389255" h="398145">
                  <a:moveTo>
                    <a:pt x="0" y="398000"/>
                  </a:moveTo>
                  <a:lnTo>
                    <a:pt x="36857" y="361127"/>
                  </a:lnTo>
                </a:path>
                <a:path w="389255" h="398145">
                  <a:moveTo>
                    <a:pt x="199840" y="51280"/>
                  </a:moveTo>
                  <a:lnTo>
                    <a:pt x="195877" y="51280"/>
                  </a:lnTo>
                  <a:lnTo>
                    <a:pt x="245445" y="59141"/>
                  </a:lnTo>
                  <a:lnTo>
                    <a:pt x="286275" y="80420"/>
                  </a:lnTo>
                  <a:lnTo>
                    <a:pt x="317059" y="111662"/>
                  </a:lnTo>
                  <a:lnTo>
                    <a:pt x="336488" y="149411"/>
                  </a:lnTo>
                  <a:lnTo>
                    <a:pt x="343255" y="190214"/>
                  </a:lnTo>
                  <a:lnTo>
                    <a:pt x="334651" y="237814"/>
                  </a:lnTo>
                  <a:lnTo>
                    <a:pt x="314134" y="276880"/>
                  </a:lnTo>
                  <a:lnTo>
                    <a:pt x="289646" y="312596"/>
                  </a:lnTo>
                  <a:lnTo>
                    <a:pt x="269129" y="350149"/>
                  </a:lnTo>
                  <a:lnTo>
                    <a:pt x="260525" y="394725"/>
                  </a:lnTo>
                  <a:lnTo>
                    <a:pt x="128256" y="394724"/>
                  </a:lnTo>
                  <a:lnTo>
                    <a:pt x="119678" y="350106"/>
                  </a:lnTo>
                  <a:lnTo>
                    <a:pt x="99222" y="312500"/>
                  </a:lnTo>
                  <a:lnTo>
                    <a:pt x="74807" y="276748"/>
                  </a:lnTo>
                  <a:lnTo>
                    <a:pt x="54352" y="237689"/>
                  </a:lnTo>
                  <a:lnTo>
                    <a:pt x="45774" y="190164"/>
                  </a:lnTo>
                  <a:lnTo>
                    <a:pt x="52522" y="149377"/>
                  </a:lnTo>
                  <a:lnTo>
                    <a:pt x="71913" y="111621"/>
                  </a:lnTo>
                  <a:lnTo>
                    <a:pt x="102668" y="80363"/>
                  </a:lnTo>
                  <a:lnTo>
                    <a:pt x="143507" y="59066"/>
                  </a:lnTo>
                  <a:lnTo>
                    <a:pt x="193152" y="51198"/>
                  </a:lnTo>
                  <a:lnTo>
                    <a:pt x="189189" y="51198"/>
                  </a:lnTo>
                </a:path>
              </a:pathLst>
            </a:custGeom>
            <a:ln w="19833">
              <a:solidFill>
                <a:srgbClr val="000047"/>
              </a:solidFill>
            </a:ln>
          </p:spPr>
          <p:txBody>
            <a:bodyPr wrap="square" lIns="0" tIns="0" rIns="0" bIns="0" rtlCol="0"/>
            <a:lstStyle/>
            <a:p>
              <a:endParaRPr/>
            </a:p>
          </p:txBody>
        </p:sp>
        <p:pic>
          <p:nvPicPr>
            <p:cNvPr id="9" name="object 17">
              <a:extLst>
                <a:ext uri="{FF2B5EF4-FFF2-40B4-BE49-F238E27FC236}">
                  <a16:creationId xmlns:a16="http://schemas.microsoft.com/office/drawing/2014/main" id="{BB1AD5B3-90A1-E9DB-9100-983E2F9D568A}"/>
                </a:ext>
              </a:extLst>
            </p:cNvPr>
            <p:cNvPicPr/>
            <p:nvPr/>
          </p:nvPicPr>
          <p:blipFill>
            <a:blip r:embed="rId4" cstate="print"/>
            <a:stretch>
              <a:fillRect/>
            </a:stretch>
          </p:blipFill>
          <p:spPr>
            <a:xfrm>
              <a:off x="571990" y="760858"/>
              <a:ext cx="123550" cy="92453"/>
            </a:xfrm>
            <a:prstGeom prst="rect">
              <a:avLst/>
            </a:prstGeom>
          </p:spPr>
        </p:pic>
      </p:grpSp>
      <p:sp>
        <p:nvSpPr>
          <p:cNvPr id="15" name="TextBox 14">
            <a:extLst>
              <a:ext uri="{FF2B5EF4-FFF2-40B4-BE49-F238E27FC236}">
                <a16:creationId xmlns:a16="http://schemas.microsoft.com/office/drawing/2014/main" id="{942C4AB7-2E54-5415-0DEF-313CE12D2333}"/>
              </a:ext>
            </a:extLst>
          </p:cNvPr>
          <p:cNvSpPr txBox="1"/>
          <p:nvPr/>
        </p:nvSpPr>
        <p:spPr>
          <a:xfrm>
            <a:off x="951767" y="697804"/>
            <a:ext cx="4140199" cy="400110"/>
          </a:xfrm>
          <a:prstGeom prst="rect">
            <a:avLst/>
          </a:prstGeom>
          <a:noFill/>
        </p:spPr>
        <p:txBody>
          <a:bodyPr wrap="square" rtlCol="0">
            <a:spAutoFit/>
          </a:bodyPr>
          <a:lstStyle/>
          <a:p>
            <a:r>
              <a:rPr lang="en-IN" sz="2000" b="1" u="sng" dirty="0"/>
              <a:t>UI Interfaces:</a:t>
            </a:r>
          </a:p>
        </p:txBody>
      </p:sp>
      <p:pic>
        <p:nvPicPr>
          <p:cNvPr id="13" name="Picture 12">
            <a:extLst>
              <a:ext uri="{FF2B5EF4-FFF2-40B4-BE49-F238E27FC236}">
                <a16:creationId xmlns:a16="http://schemas.microsoft.com/office/drawing/2014/main" id="{255B3910-903C-42FF-7109-1386F4796B61}"/>
              </a:ext>
            </a:extLst>
          </p:cNvPr>
          <p:cNvPicPr>
            <a:picLocks noChangeAspect="1"/>
          </p:cNvPicPr>
          <p:nvPr/>
        </p:nvPicPr>
        <p:blipFill>
          <a:blip r:embed="rId5"/>
          <a:stretch>
            <a:fillRect/>
          </a:stretch>
        </p:blipFill>
        <p:spPr>
          <a:xfrm>
            <a:off x="6578200" y="1122880"/>
            <a:ext cx="4972960" cy="4313903"/>
          </a:xfrm>
          <a:prstGeom prst="rect">
            <a:avLst/>
          </a:prstGeom>
          <a:ln w="12700">
            <a:solidFill>
              <a:schemeClr val="tx1"/>
            </a:solidFill>
          </a:ln>
        </p:spPr>
      </p:pic>
      <p:sp>
        <p:nvSpPr>
          <p:cNvPr id="2" name="TextBox 1">
            <a:extLst>
              <a:ext uri="{FF2B5EF4-FFF2-40B4-BE49-F238E27FC236}">
                <a16:creationId xmlns:a16="http://schemas.microsoft.com/office/drawing/2014/main" id="{2BD4189D-6F65-1AD3-AF49-D8B2CEB9006D}"/>
              </a:ext>
            </a:extLst>
          </p:cNvPr>
          <p:cNvSpPr txBox="1"/>
          <p:nvPr/>
        </p:nvSpPr>
        <p:spPr>
          <a:xfrm>
            <a:off x="945806" y="5760086"/>
            <a:ext cx="11322391" cy="707886"/>
          </a:xfrm>
          <a:prstGeom prst="rect">
            <a:avLst/>
          </a:prstGeom>
          <a:noFill/>
        </p:spPr>
        <p:txBody>
          <a:bodyPr wrap="square" rtlCol="0">
            <a:spAutoFit/>
          </a:bodyPr>
          <a:lstStyle/>
          <a:p>
            <a:r>
              <a:rPr lang="en-IN" sz="2000" b="1" dirty="0"/>
              <a:t>Live Demo Video: </a:t>
            </a:r>
            <a:r>
              <a:rPr lang="en-IN" sz="2000" b="1" dirty="0">
                <a:hlinkClick r:id="rId6"/>
              </a:rPr>
              <a:t>https://drive.google.com/file/d/1WEqnDNSu0PBs_ENfD7Vvpty2qYha-Q2U/view?usp=sharing</a:t>
            </a:r>
            <a:endParaRPr lang="en-IN" sz="2000" b="1" dirty="0"/>
          </a:p>
        </p:txBody>
      </p:sp>
    </p:spTree>
    <p:extLst>
      <p:ext uri="{BB962C8B-B14F-4D97-AF65-F5344CB8AC3E}">
        <p14:creationId xmlns:p14="http://schemas.microsoft.com/office/powerpoint/2010/main" val="34916335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908</TotalTime>
  <Words>1167</Words>
  <Application>Microsoft Office PowerPoint</Application>
  <PresentationFormat>Widescreen</PresentationFormat>
  <Paragraphs>159</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Wingdings</vt:lpstr>
      <vt:lpstr>Office Theme</vt:lpstr>
      <vt:lpstr>PowerPoint Presentation</vt:lpstr>
      <vt:lpstr>Zintellect AI: Intelligent Healthcare Prior Authorization Automation Platform</vt:lpstr>
      <vt:lpstr>PowerPoint Presentation</vt:lpstr>
      <vt:lpstr>Technology Stack </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Pooja Alkuri</dc:creator>
  <cp:lastModifiedBy>Matheswaran S</cp:lastModifiedBy>
  <cp:revision>10</cp:revision>
  <dcterms:created xsi:type="dcterms:W3CDTF">2026-03-27T05:51:14Z</dcterms:created>
  <dcterms:modified xsi:type="dcterms:W3CDTF">2026-06-18T17:17:04Z</dcterms:modified>
</cp:coreProperties>
</file>